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9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8212" y="2102084"/>
            <a:ext cx="7772400" cy="1470025"/>
          </a:xfrm>
        </p:spPr>
        <p:txBody>
          <a:bodyPr/>
          <a:lstStyle/>
          <a:p>
            <a:pPr>
              <a:defRPr sz="3000" b="1">
                <a:solidFill>
                  <a:srgbClr val="102A43"/>
                </a:solidFill>
              </a:defRPr>
            </a:pPr>
            <a:r>
              <a:rPr dirty="0"/>
              <a:t>Object-Based vs Pixel-Based Classification for Dehradun Urban Expansion 2016-2024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4012" y="3656330"/>
            <a:ext cx="6400800" cy="1752600"/>
          </a:xfrm>
        </p:spPr>
        <p:txBody>
          <a:bodyPr/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rPr dirty="0"/>
              <a:t>Mohammad Salman   |   M.Sc. Geo-informatics, IIRS Dehradun   |   Sentinel-2 SR 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0972800" cy="278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>
                <a:solidFill>
                  <a:srgbClr val="555555"/>
                </a:solidFill>
              </a:defRPr>
            </a:pPr>
            <a:r>
              <a:rPr dirty="0"/>
              <a:t>IIRS Dehradun  |  June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CC204-1914-546B-77CD-4F9B538DC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554" y="1452679"/>
            <a:ext cx="662940" cy="277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061A7D-7327-B053-9356-241A56771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354" y="695759"/>
            <a:ext cx="838200" cy="789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BE158-6E54-9B50-2758-719C1593C2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682" y="731954"/>
            <a:ext cx="998220" cy="998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960" y="264199"/>
            <a:ext cx="8229600" cy="1143000"/>
          </a:xfrm>
        </p:spPr>
        <p:txBody>
          <a:bodyPr/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dirty="0"/>
              <a:t>Research </a:t>
            </a:r>
            <a:r>
              <a:rPr sz="2800" dirty="0"/>
              <a:t>Question</a:t>
            </a:r>
            <a:r>
              <a:rPr dirty="0"/>
              <a:t> &amp; 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34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500" b="1">
                <a:solidFill>
                  <a:srgbClr val="102A43"/>
                </a:solidFill>
              </a:defRPr>
            </a:pPr>
            <a:r>
              <a:rPr lang="en-US" dirty="0"/>
              <a:t>Q</a:t>
            </a:r>
            <a:r>
              <a:rPr sz="1600" dirty="0"/>
              <a:t>uestion</a:t>
            </a:r>
            <a:r>
              <a:rPr dirty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5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/>
            </a:pPr>
            <a:r>
              <a:rPr sz="1600" dirty="0"/>
              <a:t>Does Object-Based Image Analysis (OBIA) of Sentinel-2 produce a more accurate land-cover</a:t>
            </a:r>
            <a:r>
              <a:rPr lang="en-US" sz="1600" dirty="0"/>
              <a:t> </a:t>
            </a:r>
            <a:r>
              <a:rPr sz="1600" dirty="0"/>
              <a:t>map of Dehradun than per-pixel classification — and how much new</a:t>
            </a:r>
            <a:r>
              <a:rPr lang="en-US" sz="1600" dirty="0"/>
              <a:t> </a:t>
            </a:r>
            <a:r>
              <a:rPr sz="1600" dirty="0"/>
              <a:t>built-up area appeared</a:t>
            </a:r>
            <a:r>
              <a:rPr lang="en-US" sz="1600" dirty="0"/>
              <a:t> </a:t>
            </a:r>
            <a:r>
              <a:rPr sz="1600" dirty="0"/>
              <a:t>between Nov 2016 (winter S2 composite) and Nov 2024?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34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500" b="1">
                <a:solidFill>
                  <a:srgbClr val="102A43"/>
                </a:solidFill>
              </a:defRPr>
            </a:pPr>
            <a:r>
              <a:rPr sz="1600" dirty="0"/>
              <a:t>Hypotheses: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10972800" cy="158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  <a:defRPr sz="1300"/>
            </a:pPr>
            <a:r>
              <a:rPr sz="1600" dirty="0"/>
              <a:t>H1  OBIA will reduce salt-and-pepper noise compared to per-pixel Random Forest.</a:t>
            </a:r>
          </a:p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  <a:defRPr sz="1300"/>
            </a:pPr>
            <a:r>
              <a:rPr sz="1600" dirty="0"/>
              <a:t>H2  OBIA accuracy &gt;= pixel-based accuracy because object-level features average</a:t>
            </a:r>
            <a:r>
              <a:rPr lang="en-US" sz="1600" dirty="0"/>
              <a:t> </a:t>
            </a:r>
            <a:r>
              <a:rPr sz="1600" dirty="0"/>
              <a:t>out within-segment noise and provide more stable training signatures.</a:t>
            </a:r>
          </a:p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  <a:defRPr sz="1300"/>
            </a:pPr>
            <a:r>
              <a:rPr sz="1600" dirty="0"/>
              <a:t>H3  Both methods will agree that Dehradun gained built-up area 2016 -&gt; 2024,</a:t>
            </a:r>
            <a:r>
              <a:rPr lang="en-US" sz="1600" dirty="0"/>
              <a:t> </a:t>
            </a:r>
            <a:r>
              <a:rPr sz="1600" dirty="0"/>
              <a:t>primarily at the cost of cropland and dense vegetation.</a:t>
            </a:r>
          </a:p>
          <a:p>
            <a:pPr>
              <a:lnSpc>
                <a:spcPct val="105000"/>
              </a:lnSpc>
              <a:defRPr sz="1300"/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6105" y="183198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Why Compare OBIA vs Pixel-Based?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505" y="1188720"/>
            <a:ext cx="5486400" cy="3701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/>
            </a:pPr>
            <a:r>
              <a:rPr sz="1600" b="1" dirty="0"/>
              <a:t>Pixel-based classification: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+ Long-established (MLC, RF, SVM since 1990s).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+ Captures fine spectral detail at sensor resolution.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- Salt-and-pepper noise in heterogeneous urban scenes.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- Ignores spatial context entirely.</a:t>
            </a:r>
          </a:p>
          <a:p>
            <a:pPr>
              <a:lnSpc>
                <a:spcPct val="105000"/>
              </a:lnSpc>
              <a:defRPr sz="1200"/>
            </a:pPr>
            <a:endParaRPr sz="1600" b="1" dirty="0"/>
          </a:p>
          <a:p>
            <a:pPr>
              <a:lnSpc>
                <a:spcPct val="105000"/>
              </a:lnSpc>
              <a:defRPr sz="1200"/>
            </a:pPr>
            <a:r>
              <a:rPr sz="1600" b="1" dirty="0"/>
              <a:t>Object-Based Image Analysis (OBIA):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+ Groups neighboring spectrally-similar pixels into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  'image objects' (segments) before classification.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+ Each segment carries spatial + spectral + (optionally)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  textural / shape descriptors.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+ Visually smoother, polygon-ready output.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- Sensitive to segmentation parameters (scale, compactness).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- Mixed segments inherit a single class label.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486400" cy="4476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/>
            </a:pPr>
            <a:r>
              <a:rPr sz="1600" b="1" dirty="0"/>
              <a:t>Open question for medium-resolution (10 m) data: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At 10 m Sentinel-2, individual urban objects (rooftops,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road segments, small fields) are 1-3 </a:t>
            </a:r>
            <a:r>
              <a:rPr sz="1600" dirty="0" err="1"/>
              <a:t>px</a:t>
            </a:r>
            <a:r>
              <a:rPr sz="1600" dirty="0"/>
              <a:t> wide. SLIC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segments of typical size (1000+ </a:t>
            </a:r>
            <a:r>
              <a:rPr sz="1600" dirty="0" err="1"/>
              <a:t>px</a:t>
            </a:r>
            <a:r>
              <a:rPr sz="1600" dirty="0"/>
              <a:t>) inevitably mix these.</a:t>
            </a:r>
          </a:p>
          <a:p>
            <a:pPr>
              <a:lnSpc>
                <a:spcPct val="105000"/>
              </a:lnSpc>
              <a:defRPr sz="1200"/>
            </a:pPr>
            <a:endParaRPr sz="1600" dirty="0"/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Does the noise-reduction benefit of OBIA outweigh the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loss of within-segment spectral diversity?</a:t>
            </a:r>
          </a:p>
          <a:p>
            <a:pPr>
              <a:lnSpc>
                <a:spcPct val="105000"/>
              </a:lnSpc>
              <a:defRPr sz="1200"/>
            </a:pPr>
            <a:endParaRPr sz="1600" dirty="0"/>
          </a:p>
          <a:p>
            <a:pPr>
              <a:lnSpc>
                <a:spcPct val="105000"/>
              </a:lnSpc>
              <a:defRPr sz="1200"/>
            </a:pPr>
            <a:r>
              <a:rPr sz="1600" b="1" dirty="0"/>
              <a:t>Existing literature is split: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- Blaschke (2010), Hossain &amp; Chen (2019) — OBIA wins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  on VHR imagery (&lt; 2 m).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- Whyte et al. (2018), Ma et al. (2017) — comparable or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  worse for medium-resolution.</a:t>
            </a:r>
          </a:p>
          <a:p>
            <a:pPr>
              <a:lnSpc>
                <a:spcPct val="105000"/>
              </a:lnSpc>
              <a:defRPr sz="1200"/>
            </a:pPr>
            <a:endParaRPr sz="1600" dirty="0"/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This study contributes one more data point in the second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regime, applied to a rapidly urbanizing Himalayan foothill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355601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Study Area — Dehradun Valley, Uttarakhand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4735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/>
            </a:pPr>
            <a:r>
              <a:rPr sz="1600" dirty="0"/>
              <a:t>Dehradun district capital, India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Population: ~700k city, ~1.7M district (2024 est.)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Capital of Uttarakhand, fastest-growing tier-2 city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  in the Himalayan belt.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Caught between Mussoorie ridge (N) and Shivalik (S).</a:t>
            </a:r>
          </a:p>
          <a:p>
            <a:pPr>
              <a:lnSpc>
                <a:spcPct val="105000"/>
              </a:lnSpc>
              <a:defRPr sz="1200"/>
            </a:pPr>
            <a:endParaRPr sz="1600" dirty="0"/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AOI extent: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Bounding box ~58.6 x 33.7 km  (entire raster)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Valid (in-AOI) area ~996 km^2  (after clip mask)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CRS: EPSG:32644 (UTM zone 44N)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Pixel size: 10 m</a:t>
            </a:r>
          </a:p>
          <a:p>
            <a:pPr>
              <a:lnSpc>
                <a:spcPct val="105000"/>
              </a:lnSpc>
              <a:defRPr sz="1200"/>
            </a:pPr>
            <a:endParaRPr sz="1600" dirty="0"/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Drivers of change 2016 -&gt; 2024: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IT/education sector expansion (</a:t>
            </a:r>
            <a:r>
              <a:rPr sz="1600" dirty="0" err="1"/>
              <a:t>Selaqui</a:t>
            </a:r>
            <a:r>
              <a:rPr sz="1600" dirty="0"/>
              <a:t>, </a:t>
            </a:r>
            <a:r>
              <a:rPr sz="1600" dirty="0" err="1"/>
              <a:t>Sahastradhara</a:t>
            </a:r>
            <a:r>
              <a:rPr sz="1600" dirty="0"/>
              <a:t>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Smart-City projects, peri-urban ribbon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57607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00">
                <a:solidFill>
                  <a:srgbClr val="555555"/>
                </a:solidFill>
              </a:defRPr>
            </a:pPr>
            <a:r>
              <a:t>OBIA-classified 2024 map showing the AOI shape.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4 / 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5B8C96-9B78-2B0D-D579-5441FA3C1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309" y="1660843"/>
            <a:ext cx="6521886" cy="33175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74638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Data — Sentinel-2 Surface Reflectance Composites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943600" cy="499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/>
            </a:pPr>
            <a:r>
              <a:rPr sz="1600" b="1" dirty="0"/>
              <a:t>Two cloud-free winter composites from Google Earth Engine:</a:t>
            </a:r>
          </a:p>
          <a:p>
            <a:pPr>
              <a:lnSpc>
                <a:spcPct val="105000"/>
              </a:lnSpc>
              <a:defRPr sz="1200"/>
            </a:pPr>
            <a:endParaRPr sz="1600" dirty="0"/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Dehradun_2016.tif  (Nov 2016 - Feb 2017)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Dehradun_2024.tif  (Nov 2024 - Feb 2025)</a:t>
            </a:r>
          </a:p>
          <a:p>
            <a:pPr>
              <a:lnSpc>
                <a:spcPct val="105000"/>
              </a:lnSpc>
              <a:defRPr sz="1200"/>
            </a:pPr>
            <a:endParaRPr sz="1600" b="1" dirty="0"/>
          </a:p>
          <a:p>
            <a:pPr>
              <a:lnSpc>
                <a:spcPct val="105000"/>
              </a:lnSpc>
              <a:defRPr sz="1200"/>
            </a:pPr>
            <a:r>
              <a:rPr sz="1600" b="1" dirty="0"/>
              <a:t>Specifications (both scenes):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12 bands per scene, Float32, 10 m resolution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CRS EPSG:32644, identical transform/shape — co-registered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Raster size 3371 x 5864 </a:t>
            </a:r>
            <a:r>
              <a:rPr sz="1600" dirty="0" err="1"/>
              <a:t>px</a:t>
            </a:r>
            <a:r>
              <a:rPr sz="1600" dirty="0"/>
              <a:t> (~20M pixels, ~10M valid)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Already clipped to Dehradun AOI in GEE</a:t>
            </a:r>
          </a:p>
          <a:p>
            <a:pPr>
              <a:lnSpc>
                <a:spcPct val="105000"/>
              </a:lnSpc>
              <a:defRPr sz="1200"/>
            </a:pPr>
            <a:endParaRPr sz="1600" dirty="0"/>
          </a:p>
          <a:p>
            <a:pPr>
              <a:lnSpc>
                <a:spcPct val="105000"/>
              </a:lnSpc>
              <a:defRPr sz="1200"/>
            </a:pPr>
            <a:r>
              <a:rPr sz="1600" b="1" dirty="0"/>
              <a:t>Band order: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B2  B3  B4  B8  B5  B6  B7  B8A  B11  B12  NDVI  NDBI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Blue Green Red NIR Red-edge x3 (10m+resamp)  SWIR x2  indices</a:t>
            </a:r>
          </a:p>
          <a:p>
            <a:pPr>
              <a:lnSpc>
                <a:spcPct val="105000"/>
              </a:lnSpc>
              <a:defRPr sz="1200"/>
            </a:pPr>
            <a:endParaRPr sz="1600" b="1" dirty="0"/>
          </a:p>
          <a:p>
            <a:pPr>
              <a:lnSpc>
                <a:spcPct val="105000"/>
              </a:lnSpc>
              <a:defRPr sz="1200"/>
            </a:pPr>
            <a:r>
              <a:rPr sz="1600" b="1" dirty="0"/>
              <a:t>Why winter window: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Cloud-free in Indian Himalayan foothills.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Dry season — clear distinction between irrigated cropland,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  fallow bare land, and natural vegetation.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188720"/>
            <a:ext cx="5486400" cy="3959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Pre-processing audit :</a:t>
            </a:r>
          </a:p>
          <a:p>
            <a:pPr algn="just">
              <a:lnSpc>
                <a:spcPct val="105000"/>
              </a:lnSpc>
              <a:defRPr sz="1200"/>
            </a:pPr>
            <a:endParaRPr lang="en-US"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Per-band statistics inside AOI revealed an unexpected issue:</a:t>
            </a:r>
            <a:r>
              <a:rPr lang="en-US" sz="1600" dirty="0"/>
              <a:t> </a:t>
            </a:r>
            <a:r>
              <a:rPr sz="1600" dirty="0"/>
              <a:t>B5, B6, B7, B8A, B11, B12 carry effectively NO signal</a:t>
            </a:r>
            <a:r>
              <a:rPr lang="en-US" sz="1600" dirty="0"/>
              <a:t> </a:t>
            </a:r>
            <a:r>
              <a:rPr sz="1600" dirty="0"/>
              <a:t>inside AOI — e.g. B11 std = ~22 DN on a ~1820 </a:t>
            </a:r>
            <a:r>
              <a:rPr sz="1600" dirty="0" err="1"/>
              <a:t>mean,range</a:t>
            </a:r>
            <a:r>
              <a:rPr sz="1600" dirty="0"/>
              <a:t> 1744-1865 (~6% relative).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</a:t>
            </a:r>
            <a:r>
              <a:rPr sz="1600" b="1" dirty="0"/>
              <a:t>Likely cause: </a:t>
            </a:r>
            <a:r>
              <a:rPr sz="1600" dirty="0"/>
              <a:t>a band-reduction step in the GEE composite</a:t>
            </a:r>
            <a:r>
              <a:rPr lang="en-US" sz="1600" dirty="0"/>
              <a:t> </a:t>
            </a:r>
            <a:r>
              <a:rPr sz="1600" dirty="0"/>
              <a:t>export collapsed these bands. Validated by checking that</a:t>
            </a:r>
            <a:r>
              <a:rPr lang="en-US" sz="1600" dirty="0"/>
              <a:t> </a:t>
            </a:r>
            <a:r>
              <a:rPr sz="1600" dirty="0"/>
              <a:t>B2/B3/B4/B8/NDVI/NDBI all retain proper std (200-500 DN,</a:t>
            </a:r>
            <a:r>
              <a:rPr lang="en-US" sz="1600" dirty="0"/>
              <a:t> </a:t>
            </a:r>
            <a:r>
              <a:rPr sz="1600" dirty="0"/>
              <a:t>NDVI std ~0.22 — physically plausible).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Decision: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Drop B5, B6, B7, B8A, B11, B12 from feature stack.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Final feature set (6): B2, B3, B4, B8, NDVI, NDBI.</a:t>
            </a:r>
            <a:endParaRPr lang="en-IN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64796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Land-Cover Class Scheme (5 classes)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255116"/>
              </p:ext>
            </p:extLst>
          </p:nvPr>
        </p:nvGraphicFramePr>
        <p:xfrm>
          <a:off x="457200" y="1188720"/>
          <a:ext cx="112471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Spectral signature (winter)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Typical features in Dehradun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Built-up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high B2/B3, NDBI &gt; 0, NDVI &lt; 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Old city, IT parks, ribbon settlements, roads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Dense Vegetation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NDVI &gt; 0.65, low SWIR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Pine/oak forest on ridges, mature riparian belts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Mixed Veg / Cropland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NDVI 0.30-0.55, mixed NDBI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Basmati/wheat fields, orchards, sparse settlements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Bare / Open 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NDVI &lt; 0.20, mid B8, mid NDBI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Fallow fields, riverbeds, exposed soil, construction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very low NIR (B8), NDVI &lt; 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Asan, Tons, Song rivers; small reservoirs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663440"/>
            <a:ext cx="11247120" cy="111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/>
            </a:pPr>
            <a:r>
              <a:rPr sz="1600" dirty="0"/>
              <a:t>Design rationale: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Coarse enough for 10 m Sentinel-2 to discriminate reliably with only spectral features.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Fine enough to track urban expansion (class 1) vs cropland conversion (class 3 -&gt; 1, 4 -&gt; 1).</a:t>
            </a:r>
          </a:p>
          <a:p>
            <a:pPr>
              <a:lnSpc>
                <a:spcPct val="105000"/>
              </a:lnSpc>
              <a:defRPr sz="1200"/>
            </a:pPr>
            <a:r>
              <a:rPr lang="en-US" sz="1600" dirty="0"/>
              <a:t>  </a:t>
            </a:r>
            <a:r>
              <a:rPr sz="1600" dirty="0"/>
              <a:t>• Class 5 (water) is small in area at 10 m; we keep it for honesty even though both classifiers</a:t>
            </a:r>
            <a:r>
              <a:rPr lang="en-US" sz="1600" dirty="0"/>
              <a:t> </a:t>
            </a:r>
            <a:r>
              <a:rPr sz="1600" dirty="0"/>
              <a:t>will struggle with narrow rivers.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305436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Workflow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669280" cy="4476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/>
            </a:pPr>
            <a:r>
              <a:rPr sz="1600" b="1" dirty="0"/>
              <a:t>OBIA pipeline: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(1) SLIC </a:t>
            </a:r>
            <a:r>
              <a:rPr sz="1600" dirty="0" err="1"/>
              <a:t>superpixels</a:t>
            </a:r>
            <a:r>
              <a:rPr sz="1600" dirty="0"/>
              <a:t> </a:t>
            </a:r>
            <a:endParaRPr lang="en-US" sz="1600" dirty="0"/>
          </a:p>
          <a:p>
            <a:pPr>
              <a:lnSpc>
                <a:spcPct val="105000"/>
              </a:lnSpc>
              <a:defRPr sz="1200"/>
            </a:pPr>
            <a:r>
              <a:rPr lang="en-IN" sz="1600" dirty="0"/>
              <a:t>	</a:t>
            </a:r>
            <a:r>
              <a:rPr lang="en-US" sz="1600" dirty="0" err="1"/>
              <a:t>n_segments</a:t>
            </a:r>
            <a:r>
              <a:rPr lang="en-US" sz="1600" dirty="0"/>
              <a:t> = 8000, compactness = 10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      input: B2, B3, B4, B8 (p1-p99 </a:t>
            </a:r>
            <a:r>
              <a:rPr sz="1600" dirty="0" err="1"/>
              <a:t>normalised</a:t>
            </a:r>
            <a:r>
              <a:rPr sz="1600" dirty="0"/>
              <a:t>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(2) Per-segment mean features </a:t>
            </a:r>
            <a:endParaRPr lang="en-US" sz="1600" dirty="0"/>
          </a:p>
          <a:p>
            <a:pPr>
              <a:lnSpc>
                <a:spcPct val="105000"/>
              </a:lnSpc>
              <a:defRPr sz="1200"/>
            </a:pPr>
            <a:r>
              <a:rPr lang="en-IN" sz="1600" dirty="0"/>
              <a:t>	</a:t>
            </a:r>
            <a:r>
              <a:rPr sz="1600" dirty="0"/>
              <a:t>6 features: B2, B3, B4, B8, NDVI, NDBI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(3) Stratified random training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      8 candidates per class per date (40/date)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      Hint = simple NDVI/NDBI threshold rules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      Truth = visual interpretation in GE Pro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(4) Random Forest classifier </a:t>
            </a:r>
            <a:endParaRPr lang="en-US" sz="1600" dirty="0"/>
          </a:p>
          <a:p>
            <a:pPr>
              <a:lnSpc>
                <a:spcPct val="105000"/>
              </a:lnSpc>
              <a:defRPr sz="1200"/>
            </a:pPr>
            <a:r>
              <a:rPr lang="en-IN" sz="1600" dirty="0"/>
              <a:t>	</a:t>
            </a:r>
            <a:r>
              <a:rPr sz="1600" dirty="0"/>
              <a:t>300 trees, balanced class weights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(5) Predict 8000 segments -&gt; rasterize @ 10 m</a:t>
            </a:r>
          </a:p>
          <a:p>
            <a:pPr>
              <a:lnSpc>
                <a:spcPct val="105000"/>
              </a:lnSpc>
              <a:defRPr sz="1200"/>
            </a:pPr>
            <a:endParaRPr sz="1600" dirty="0"/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Both pipelines share the SAME training data, the SAME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feature set, and the SAME RF hyperparameters. Only the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spatial unit of classification differs.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486400" cy="499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/>
            </a:pPr>
            <a:r>
              <a:rPr sz="1600" b="1" dirty="0"/>
              <a:t>Pixel-based pipeline: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(1) Training pixels = 3x3 window around training-segment centroids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      ~9 training </a:t>
            </a:r>
            <a:r>
              <a:rPr sz="1600" dirty="0" err="1"/>
              <a:t>px</a:t>
            </a:r>
            <a:r>
              <a:rPr sz="1600" dirty="0"/>
              <a:t> / segment -&gt; 360 </a:t>
            </a:r>
            <a:r>
              <a:rPr sz="1600" dirty="0" err="1"/>
              <a:t>px</a:t>
            </a:r>
            <a:r>
              <a:rPr sz="1600" dirty="0"/>
              <a:t> / date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(2) Random Forest (same config as OBIA)                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(3) Predict every valid pixel (9.96 M / date)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(4) 3x3 majority filter to suppress salt-and-pepper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(5) Export classified </a:t>
            </a:r>
            <a:r>
              <a:rPr sz="1600" dirty="0" err="1"/>
              <a:t>GeoTIFF</a:t>
            </a:r>
            <a:endParaRPr sz="1600" dirty="0"/>
          </a:p>
          <a:p>
            <a:pPr>
              <a:lnSpc>
                <a:spcPct val="105000"/>
              </a:lnSpc>
              <a:defRPr sz="1200"/>
            </a:pPr>
            <a:endParaRPr sz="1600" dirty="0"/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Validation (both methods):                                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75 stratified random points per date (15 / class)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Stratified on OBIA classified raster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Visual interpretation in Google Earth Pro using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  historical imagery (Nov-Feb of each year)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• Same 150 reference points used to score BOTH methods</a:t>
            </a:r>
          </a:p>
          <a:p>
            <a:pPr>
              <a:lnSpc>
                <a:spcPct val="105000"/>
              </a:lnSpc>
              <a:defRPr sz="1200"/>
            </a:pPr>
            <a:endParaRPr sz="1600" dirty="0"/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Change detection:                                         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Cross-tabulate per method -&gt; 5x5 transition matrix,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per-class area (ha), urbanization binary 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rPr dirty="0"/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74956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SLIC </a:t>
            </a:r>
            <a:r>
              <a:rPr sz="2800" dirty="0" err="1"/>
              <a:t>Superpixel</a:t>
            </a:r>
            <a:r>
              <a:rPr sz="2800" dirty="0"/>
              <a:t> Segmentation —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218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defRPr sz="1200"/>
            </a:pPr>
            <a:r>
              <a:rPr sz="1600" dirty="0"/>
              <a:t>Simple Linear Iterative Clustering (Achanta et al. 2012)</a:t>
            </a:r>
            <a:r>
              <a:rPr lang="en-US" sz="1600" dirty="0"/>
              <a:t> </a:t>
            </a:r>
            <a:r>
              <a:rPr sz="1600" dirty="0"/>
              <a:t>k-means in joint (x, y, spectral) space, restricted to a</a:t>
            </a:r>
            <a:r>
              <a:rPr lang="en-US" sz="1600" dirty="0"/>
              <a:t> </a:t>
            </a:r>
            <a:r>
              <a:rPr sz="1600" dirty="0"/>
              <a:t>local 2S x 2S </a:t>
            </a:r>
            <a:r>
              <a:rPr sz="1600" dirty="0" err="1"/>
              <a:t>neighbourhood</a:t>
            </a:r>
            <a:r>
              <a:rPr sz="1600" dirty="0"/>
              <a:t> per centroid where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   S = sqrt(</a:t>
            </a:r>
            <a:r>
              <a:rPr sz="1600" dirty="0" err="1"/>
              <a:t>N_pixels</a:t>
            </a:r>
            <a:r>
              <a:rPr sz="1600" dirty="0"/>
              <a:t> / </a:t>
            </a:r>
            <a:r>
              <a:rPr sz="1600" dirty="0" err="1"/>
              <a:t>n_segments</a:t>
            </a:r>
            <a:r>
              <a:rPr sz="1600" dirty="0"/>
              <a:t>).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Distance metric: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D = sqrt( (</a:t>
            </a:r>
            <a:r>
              <a:rPr sz="1600" dirty="0" err="1"/>
              <a:t>d_spectral</a:t>
            </a:r>
            <a:r>
              <a:rPr sz="1600" dirty="0"/>
              <a:t> / m)^2 + (</a:t>
            </a:r>
            <a:r>
              <a:rPr sz="1600" dirty="0" err="1"/>
              <a:t>d_spatial</a:t>
            </a:r>
            <a:r>
              <a:rPr sz="1600" dirty="0"/>
              <a:t> / S)^2 )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where m = compactness parameter.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- Low m   -&gt; segments hug spectral edges (irregular)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- High m  -&gt; segments stay close to a regular grid (compact)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Computational complexity: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O(N) for the algorithm (vs O(N log N) for watershed,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O(N^2) for mean-shift).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Native scikit-image implementation, multi-threaded.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486400" cy="551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Our parameter choices: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</a:t>
            </a:r>
            <a:r>
              <a:rPr sz="1600" dirty="0" err="1"/>
              <a:t>n_segments</a:t>
            </a:r>
            <a:r>
              <a:rPr sz="1600" dirty="0"/>
              <a:t>  = 8000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=&gt; with ~10M valid pixels, target ~1250 </a:t>
            </a:r>
            <a:r>
              <a:rPr sz="1600" dirty="0" err="1"/>
              <a:t>px</a:t>
            </a:r>
            <a:r>
              <a:rPr sz="1600" dirty="0"/>
              <a:t> / segment</a:t>
            </a:r>
            <a:r>
              <a:rPr lang="en-US" sz="1600" dirty="0"/>
              <a:t> </a:t>
            </a:r>
            <a:r>
              <a:rPr sz="1600" dirty="0"/>
              <a:t>~ 12.5 ha per segment on a 10 m grid.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compactness = 10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=&gt; moderate — allow spectral edges to dominate</a:t>
            </a:r>
            <a:r>
              <a:rPr lang="en-US" sz="1600" dirty="0"/>
              <a:t> </a:t>
            </a:r>
            <a:r>
              <a:rPr sz="1600" dirty="0"/>
              <a:t>but maintain roughly square segments.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channels    = B2, B3, B4, B8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=&gt; visible RGB + NIR. NDVI/NDBI were NOT used for</a:t>
            </a:r>
            <a:r>
              <a:rPr lang="en-US" sz="1600" dirty="0"/>
              <a:t> </a:t>
            </a:r>
            <a:r>
              <a:rPr sz="1600" dirty="0"/>
              <a:t>segmentation (added later as features) so segments are not biased toward our class definitions.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</a:t>
            </a:r>
            <a:r>
              <a:rPr sz="1600" b="1" dirty="0" err="1"/>
              <a:t>normalisation</a:t>
            </a:r>
            <a:r>
              <a:rPr sz="1600" b="1" dirty="0"/>
              <a:t>: </a:t>
            </a:r>
            <a:r>
              <a:rPr sz="1600" dirty="0"/>
              <a:t>per-channel p1-p99 min-max scaling.</a:t>
            </a:r>
            <a:r>
              <a:rPr lang="en-US" sz="1600" dirty="0"/>
              <a:t> </a:t>
            </a:r>
            <a:r>
              <a:rPr sz="1600" dirty="0"/>
              <a:t>Required because SLIC weights spatial vs spectral</a:t>
            </a:r>
            <a:r>
              <a:rPr lang="en-US" sz="1600" dirty="0"/>
              <a:t> </a:t>
            </a:r>
            <a:r>
              <a:rPr sz="1600" dirty="0"/>
              <a:t>distance using compactness; un-</a:t>
            </a:r>
            <a:r>
              <a:rPr sz="1600" dirty="0" err="1"/>
              <a:t>normalised</a:t>
            </a:r>
            <a:r>
              <a:rPr sz="1600" dirty="0"/>
              <a:t> DN scales would dominate spatial distance.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mask = AOI valid mask  (</a:t>
            </a:r>
            <a:r>
              <a:rPr sz="1600" dirty="0" err="1"/>
              <a:t>start_label</a:t>
            </a:r>
            <a:r>
              <a:rPr sz="1600" dirty="0"/>
              <a:t> = 1)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Prevents segments from bleeding into outside-AOI.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74638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SLIC Segmentation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84084" cy="4218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/>
            </a:pPr>
            <a:r>
              <a:rPr sz="1600" b="1" dirty="0"/>
              <a:t>Result — both dates: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segments inside AOI = 8000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median segment      = 1241 </a:t>
            </a:r>
            <a:r>
              <a:rPr sz="1600" dirty="0" err="1"/>
              <a:t>px</a:t>
            </a:r>
            <a:r>
              <a:rPr sz="1600" dirty="0"/>
              <a:t>  (~12.4 ha)</a:t>
            </a:r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min  segment        = 748 </a:t>
            </a:r>
            <a:r>
              <a:rPr sz="1600" dirty="0" err="1"/>
              <a:t>px</a:t>
            </a:r>
            <a:endParaRPr sz="1600" dirty="0"/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max  segment        = ~2008 </a:t>
            </a:r>
            <a:r>
              <a:rPr sz="1600" dirty="0" err="1"/>
              <a:t>px</a:t>
            </a:r>
            <a:endParaRPr sz="1600" dirty="0"/>
          </a:p>
          <a:p>
            <a:pPr>
              <a:lnSpc>
                <a:spcPct val="105000"/>
              </a:lnSpc>
              <a:defRPr sz="1200"/>
            </a:pPr>
            <a:r>
              <a:rPr sz="1600" dirty="0"/>
              <a:t>  total runtime       = ~48 s / date</a:t>
            </a:r>
          </a:p>
          <a:p>
            <a:pPr>
              <a:lnSpc>
                <a:spcPct val="105000"/>
              </a:lnSpc>
              <a:defRPr sz="1200"/>
            </a:pPr>
            <a:endParaRPr sz="1600" dirty="0"/>
          </a:p>
          <a:p>
            <a:pPr>
              <a:lnSpc>
                <a:spcPct val="105000"/>
              </a:lnSpc>
              <a:defRPr sz="1200"/>
            </a:pPr>
            <a:r>
              <a:rPr sz="1600" b="1" dirty="0"/>
              <a:t>Co-registration check: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Identical raster transform on both dates</a:t>
            </a:r>
            <a:r>
              <a:rPr lang="en-US" sz="1600" dirty="0"/>
              <a:t> </a:t>
            </a:r>
            <a:r>
              <a:rPr sz="1600" dirty="0"/>
              <a:t>means</a:t>
            </a:r>
            <a:r>
              <a:rPr lang="en-US" sz="1600" dirty="0"/>
              <a:t> </a:t>
            </a:r>
            <a:r>
              <a:rPr sz="1600" dirty="0"/>
              <a:t>segment polygons are spatially equivalent, but</a:t>
            </a:r>
            <a:r>
              <a:rPr lang="en-US" sz="1600" dirty="0"/>
              <a:t> </a:t>
            </a:r>
            <a:r>
              <a:rPr sz="1600" dirty="0"/>
              <a:t>cluster IDs are not (SLIC is run independently</a:t>
            </a:r>
            <a:r>
              <a:rPr lang="en-US" sz="1600" dirty="0"/>
              <a:t> </a:t>
            </a:r>
            <a:r>
              <a:rPr sz="1600" dirty="0"/>
              <a:t>per date). This is appropriate because the actual</a:t>
            </a:r>
            <a:r>
              <a:rPr lang="en-US" sz="1600" dirty="0"/>
              <a:t> </a:t>
            </a:r>
            <a:r>
              <a:rPr sz="1600" dirty="0"/>
              <a:t>spectral content of a given location changes</a:t>
            </a:r>
            <a:r>
              <a:rPr lang="en-US" sz="1600" dirty="0"/>
              <a:t> </a:t>
            </a:r>
            <a:r>
              <a:rPr sz="1600" dirty="0"/>
              <a:t>between 2016 and 2024 — segmenting jointly would bias the comparison.</a:t>
            </a:r>
          </a:p>
          <a:p>
            <a:pPr>
              <a:lnSpc>
                <a:spcPct val="105000"/>
              </a:lnSpc>
              <a:defRPr sz="1200"/>
            </a:pP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4846320" y="594360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00">
                <a:solidFill>
                  <a:srgbClr val="555555"/>
                </a:solidFill>
              </a:defRPr>
            </a:pPr>
            <a:r>
              <a:t>Each colour patch corresponds to one segment's predicted class — the underlying segment boundaries are inherited from SLIC.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9 / 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D55F48-6CF2-AD46-AE00-5FC58946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284" y="1417639"/>
            <a:ext cx="6697276" cy="34067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74638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Per-Segment Feature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25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For each of the 8000 segments per date: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feature vector x  in  R^6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= [ mean(B2), mean(B3), mean(B4),</a:t>
            </a:r>
            <a:r>
              <a:rPr lang="en-US" sz="1600" dirty="0"/>
              <a:t> </a:t>
            </a:r>
            <a:r>
              <a:rPr sz="1600" dirty="0"/>
              <a:t>mean(B8), mean(NDVI), mean(NDBI) ]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  ancillary fields (not used in classification):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</a:t>
            </a:r>
            <a:r>
              <a:rPr sz="1600" dirty="0" err="1"/>
              <a:t>n_pixels</a:t>
            </a:r>
            <a:r>
              <a:rPr sz="1600" dirty="0"/>
              <a:t>, </a:t>
            </a:r>
            <a:r>
              <a:rPr sz="1600" dirty="0" err="1"/>
              <a:t>centroid_row</a:t>
            </a:r>
            <a:r>
              <a:rPr sz="1600" dirty="0"/>
              <a:t>, </a:t>
            </a:r>
            <a:r>
              <a:rPr sz="1600" dirty="0" err="1"/>
              <a:t>centroid_col</a:t>
            </a:r>
            <a:r>
              <a:rPr sz="1600" dirty="0"/>
              <a:t>,</a:t>
            </a:r>
            <a:r>
              <a:rPr lang="en-US" sz="1600" dirty="0"/>
              <a:t> </a:t>
            </a:r>
            <a:r>
              <a:rPr sz="1600" dirty="0" err="1"/>
              <a:t>centroid_x</a:t>
            </a:r>
            <a:r>
              <a:rPr sz="1600" dirty="0"/>
              <a:t>, </a:t>
            </a:r>
            <a:r>
              <a:rPr sz="1600" dirty="0" err="1"/>
              <a:t>centroid_y</a:t>
            </a:r>
            <a:r>
              <a:rPr sz="1600" dirty="0"/>
              <a:t> (UTM 44N)</a:t>
            </a:r>
            <a:r>
              <a:rPr lang="en-US" sz="1600" dirty="0"/>
              <a:t> </a:t>
            </a:r>
            <a:r>
              <a:rPr sz="1600" dirty="0"/>
              <a:t>mean(B11)  -- retained for audit only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Why mean rather than median:</a:t>
            </a:r>
            <a:endParaRPr lang="en-US" sz="1600" b="1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Cheap (O(N) via </a:t>
            </a:r>
            <a:r>
              <a:rPr sz="1600" dirty="0" err="1"/>
              <a:t>scipy.ndimage.mean</a:t>
            </a:r>
            <a:r>
              <a:rPr sz="1600" dirty="0"/>
              <a:t>).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Sufficient with compact 12-ha segments; median was</a:t>
            </a:r>
            <a:r>
              <a:rPr lang="en-US" sz="1600" dirty="0"/>
              <a:t> </a:t>
            </a:r>
            <a:r>
              <a:rPr sz="1600" dirty="0"/>
              <a:t>tested on a sample and gave correlation &gt; 0.999 vs mean.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Why no texture features (GLCM, Gabor):</a:t>
            </a:r>
            <a:endParaRPr lang="en-US" sz="1600" b="1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Not in the brief; would add another paper's worth of</a:t>
            </a:r>
            <a:r>
              <a:rPr lang="en-US" sz="1600" dirty="0"/>
              <a:t> </a:t>
            </a:r>
            <a:r>
              <a:rPr sz="1600" dirty="0"/>
              <a:t>parameter tuning.</a:t>
            </a:r>
            <a:endParaRPr lang="en-US"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At 10 m / 12 ha-segments, texture is dominated by</a:t>
            </a:r>
            <a:r>
              <a:rPr lang="en-US" sz="1600" dirty="0"/>
              <a:t> </a:t>
            </a:r>
            <a:r>
              <a:rPr sz="1600" dirty="0"/>
              <a:t>field boundaries -- captured implicitly by NDVI variance</a:t>
            </a:r>
            <a:r>
              <a:rPr lang="en-US" sz="1600" dirty="0"/>
              <a:t> </a:t>
            </a:r>
            <a:r>
              <a:rPr sz="1600" dirty="0"/>
              <a:t>across nearby segments.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188720"/>
            <a:ext cx="5486400" cy="4735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Feature distribution (2024, all 8000 segments):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mean_B2     range 134 -- 1756   std 242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mean_B3     range 251 -- 2066   std 265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mean_B4     range 169 -- 2338   std 344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mean_B8     range 929 -- 3593   std 237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</a:t>
            </a:r>
            <a:r>
              <a:rPr sz="1600" dirty="0" err="1"/>
              <a:t>mean_NDVI</a:t>
            </a:r>
            <a:r>
              <a:rPr sz="1600" dirty="0"/>
              <a:t>   range 0.005 -- 0.867 std 0.20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</a:t>
            </a:r>
            <a:r>
              <a:rPr sz="1600" dirty="0" err="1"/>
              <a:t>mean_NDBI</a:t>
            </a:r>
            <a:r>
              <a:rPr sz="1600" dirty="0"/>
              <a:t>   range -0.298 -- 0.474 std 0.06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Important: at median 12 ha / segment, even a pure water</a:t>
            </a:r>
            <a:r>
              <a:rPr lang="en-US" sz="1600" dirty="0"/>
              <a:t> </a:t>
            </a:r>
            <a:r>
              <a:rPr sz="1600" dirty="0"/>
              <a:t>body (Asan Barrage ~ 4 km^2) covers only ~30 segments,</a:t>
            </a:r>
            <a:r>
              <a:rPr lang="en-US" sz="1600" dirty="0"/>
              <a:t> </a:t>
            </a:r>
            <a:r>
              <a:rPr sz="1600" dirty="0"/>
              <a:t>while small ponds (&lt; 1 ha) are absorbed into surrounding</a:t>
            </a:r>
            <a:r>
              <a:rPr lang="en-US" sz="1600" dirty="0"/>
              <a:t> </a:t>
            </a:r>
            <a:r>
              <a:rPr sz="1600" dirty="0"/>
              <a:t>vegetation segments. This explains the under-representation</a:t>
            </a:r>
            <a:r>
              <a:rPr lang="en-US" sz="1600" dirty="0"/>
              <a:t> </a:t>
            </a:r>
            <a:r>
              <a:rPr sz="1600" dirty="0"/>
              <a:t>of class 5 (water) in both the candidate pool and the</a:t>
            </a:r>
            <a:r>
              <a:rPr lang="en-US" sz="1600" dirty="0"/>
              <a:t> </a:t>
            </a:r>
            <a:r>
              <a:rPr sz="1600" dirty="0"/>
              <a:t>final maps.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Persisted to: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04_classification_OBIA/</a:t>
            </a:r>
            <a:r>
              <a:rPr sz="1600" dirty="0" err="1"/>
              <a:t>segment_features</a:t>
            </a:r>
            <a:r>
              <a:rPr sz="1600" dirty="0"/>
              <a:t>_{year}.parquet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(also CSV for quick eyeballing)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64796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Training Data &amp; Random Forest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476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/>
            </a:pPr>
            <a:r>
              <a:rPr sz="1600" b="1" dirty="0"/>
              <a:t>Training-segment selection (per date):</a:t>
            </a:r>
          </a:p>
          <a:p>
            <a:pPr algn="just">
              <a:lnSpc>
                <a:spcPct val="105000"/>
              </a:lnSpc>
              <a:defRPr sz="1100"/>
            </a:pPr>
            <a:r>
              <a:rPr sz="1600" dirty="0"/>
              <a:t>Step 1 — heuristic stratification (no learning yet):</a:t>
            </a:r>
          </a:p>
          <a:p>
            <a:pPr algn="just">
              <a:lnSpc>
                <a:spcPct val="105000"/>
              </a:lnSpc>
              <a:defRPr sz="1100"/>
            </a:pPr>
            <a:r>
              <a:rPr sz="1600" dirty="0"/>
              <a:t>     • Built-up   NDBI &gt; 0 AND NDVI &lt; 0.30</a:t>
            </a:r>
          </a:p>
          <a:p>
            <a:pPr algn="just">
              <a:lnSpc>
                <a:spcPct val="105000"/>
              </a:lnSpc>
              <a:defRPr sz="1100"/>
            </a:pPr>
            <a:r>
              <a:rPr sz="1600" dirty="0"/>
              <a:t>     • Dense Veg  NDVI &gt; 0.65</a:t>
            </a:r>
          </a:p>
          <a:p>
            <a:pPr algn="just">
              <a:lnSpc>
                <a:spcPct val="105000"/>
              </a:lnSpc>
              <a:defRPr sz="1100"/>
            </a:pPr>
            <a:r>
              <a:rPr sz="1600" dirty="0"/>
              <a:t>     • Mixed/Crop NDVI in [0.30, 0.55]</a:t>
            </a:r>
          </a:p>
          <a:p>
            <a:pPr algn="just">
              <a:lnSpc>
                <a:spcPct val="105000"/>
              </a:lnSpc>
              <a:defRPr sz="1100"/>
            </a:pPr>
            <a:r>
              <a:rPr sz="1600" dirty="0"/>
              <a:t>     • Bare       NDVI &lt; 0.20 AND NDBI in [-0.10, 0.10]</a:t>
            </a:r>
          </a:p>
          <a:p>
            <a:pPr algn="just">
              <a:lnSpc>
                <a:spcPct val="105000"/>
              </a:lnSpc>
              <a:defRPr sz="1100"/>
            </a:pPr>
            <a:r>
              <a:rPr sz="1600" dirty="0"/>
              <a:t>                  AND B8 &gt; 1500</a:t>
            </a:r>
          </a:p>
          <a:p>
            <a:pPr algn="just">
              <a:lnSpc>
                <a:spcPct val="105000"/>
              </a:lnSpc>
              <a:defRPr sz="1100"/>
            </a:pPr>
            <a:r>
              <a:rPr sz="1600" dirty="0"/>
              <a:t>     • Water      B8 &lt; 1500 AND NDVI &lt; 0.25</a:t>
            </a:r>
          </a:p>
          <a:p>
            <a:pPr algn="just">
              <a:lnSpc>
                <a:spcPct val="105000"/>
              </a:lnSpc>
              <a:defRPr sz="1100"/>
            </a:pPr>
            <a:r>
              <a:rPr sz="1600" dirty="0"/>
              <a:t>                  (fallback: 200 lowest-NIR segments)</a:t>
            </a:r>
          </a:p>
          <a:p>
            <a:pPr algn="just">
              <a:lnSpc>
                <a:spcPct val="105000"/>
              </a:lnSpc>
              <a:defRPr sz="1100"/>
            </a:pPr>
            <a:r>
              <a:rPr sz="1600" dirty="0"/>
              <a:t>Step 2 — sample 8 segments per class -&gt; 40 candidates</a:t>
            </a:r>
          </a:p>
          <a:p>
            <a:pPr algn="just">
              <a:lnSpc>
                <a:spcPct val="105000"/>
              </a:lnSpc>
              <a:defRPr sz="1100"/>
            </a:pPr>
            <a:r>
              <a:rPr sz="1600" dirty="0"/>
              <a:t>Step 3 — visual confirmation in Google Earth Pro,</a:t>
            </a:r>
            <a:r>
              <a:rPr lang="en-US" sz="1600" dirty="0"/>
              <a:t> </a:t>
            </a:r>
            <a:r>
              <a:rPr sz="1600" dirty="0"/>
              <a:t>override the </a:t>
            </a:r>
            <a:r>
              <a:rPr lang="en-US" sz="1600" dirty="0"/>
              <a:t>      </a:t>
            </a:r>
            <a:r>
              <a:rPr sz="1600" dirty="0"/>
              <a:t>hint where wrong.</a:t>
            </a:r>
          </a:p>
          <a:p>
            <a:pPr>
              <a:lnSpc>
                <a:spcPct val="105000"/>
              </a:lnSpc>
              <a:defRPr sz="1100"/>
            </a:pPr>
            <a:endParaRPr sz="1600" dirty="0"/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</a:t>
            </a:r>
            <a:r>
              <a:rPr sz="1600" b="1" dirty="0"/>
              <a:t>Final training distribution: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   2016 -&gt; {1:13, 2:9, 3:7, 4:7, 5:4}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   2024 -&gt; {1:12, 2:8, 3:7, 4:8, 5:5}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188720"/>
            <a:ext cx="5486400" cy="4916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/>
            </a:pPr>
            <a:r>
              <a:rPr sz="1600" b="1" dirty="0"/>
              <a:t>Random Forest hyperparameters (identical for both methods):</a:t>
            </a:r>
          </a:p>
          <a:p>
            <a:pPr>
              <a:lnSpc>
                <a:spcPct val="105000"/>
              </a:lnSpc>
              <a:defRPr sz="1100"/>
            </a:pPr>
            <a:endParaRPr sz="1600" dirty="0"/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</a:t>
            </a:r>
            <a:r>
              <a:rPr sz="1600" dirty="0" err="1"/>
              <a:t>n_estimators</a:t>
            </a:r>
            <a:r>
              <a:rPr sz="1600" dirty="0"/>
              <a:t>        = 300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</a:t>
            </a:r>
            <a:r>
              <a:rPr sz="1600" dirty="0" err="1"/>
              <a:t>max_depth</a:t>
            </a:r>
            <a:r>
              <a:rPr sz="1600" dirty="0"/>
              <a:t>           = None  (grow fully)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</a:t>
            </a:r>
            <a:r>
              <a:rPr sz="1600" dirty="0" err="1"/>
              <a:t>min_samples_leaf</a:t>
            </a:r>
            <a:r>
              <a:rPr sz="1600" dirty="0"/>
              <a:t>    = 2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</a:t>
            </a:r>
            <a:r>
              <a:rPr sz="1600" dirty="0" err="1"/>
              <a:t>class_weight</a:t>
            </a:r>
            <a:r>
              <a:rPr sz="1600" dirty="0"/>
              <a:t>        = 'balanced'   (vital for class 5)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</a:t>
            </a:r>
            <a:r>
              <a:rPr sz="1600" dirty="0" err="1"/>
              <a:t>random_state</a:t>
            </a:r>
            <a:r>
              <a:rPr sz="1600" dirty="0"/>
              <a:t>        = 42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</a:t>
            </a:r>
            <a:r>
              <a:rPr sz="1600" dirty="0" err="1"/>
              <a:t>oob_score</a:t>
            </a:r>
            <a:r>
              <a:rPr sz="1600" dirty="0"/>
              <a:t>           = True</a:t>
            </a:r>
          </a:p>
          <a:p>
            <a:pPr>
              <a:lnSpc>
                <a:spcPct val="105000"/>
              </a:lnSpc>
              <a:defRPr sz="1100"/>
            </a:pPr>
            <a:endParaRPr sz="1600" dirty="0"/>
          </a:p>
          <a:p>
            <a:pPr>
              <a:lnSpc>
                <a:spcPct val="105000"/>
              </a:lnSpc>
              <a:defRPr sz="1100"/>
            </a:pPr>
            <a:r>
              <a:rPr sz="1600" b="1" dirty="0"/>
              <a:t>Pixel-based training set:</a:t>
            </a:r>
          </a:p>
          <a:p>
            <a:pPr algn="just">
              <a:lnSpc>
                <a:spcPct val="105000"/>
              </a:lnSpc>
              <a:defRPr sz="1100"/>
            </a:pPr>
            <a:r>
              <a:rPr sz="1600" dirty="0"/>
              <a:t>3x3 window pulled at each training-segment centroid,</a:t>
            </a:r>
            <a:r>
              <a:rPr lang="en-US" sz="1600" dirty="0"/>
              <a:t> </a:t>
            </a:r>
            <a:r>
              <a:rPr sz="1600" dirty="0"/>
              <a:t>using the SAME class label -&gt; ~360 </a:t>
            </a:r>
            <a:r>
              <a:rPr sz="1600" dirty="0" err="1"/>
              <a:t>px</a:t>
            </a:r>
            <a:r>
              <a:rPr sz="1600" dirty="0"/>
              <a:t> / date.</a:t>
            </a:r>
          </a:p>
          <a:p>
            <a:pPr algn="just">
              <a:lnSpc>
                <a:spcPct val="105000"/>
              </a:lnSpc>
              <a:defRPr sz="1100"/>
            </a:pPr>
            <a:r>
              <a:rPr sz="1600" dirty="0"/>
              <a:t>This deliberately keeps the methods comparable: both</a:t>
            </a:r>
            <a:r>
              <a:rPr lang="en-US" sz="1600" dirty="0"/>
              <a:t> </a:t>
            </a:r>
            <a:r>
              <a:rPr sz="1600" dirty="0"/>
              <a:t>classifiers see the same locations.</a:t>
            </a:r>
          </a:p>
          <a:p>
            <a:pPr>
              <a:lnSpc>
                <a:spcPct val="105000"/>
              </a:lnSpc>
              <a:defRPr sz="1100"/>
            </a:pPr>
            <a:endParaRPr sz="1600" dirty="0"/>
          </a:p>
          <a:p>
            <a:pPr>
              <a:lnSpc>
                <a:spcPct val="105000"/>
              </a:lnSpc>
              <a:defRPr sz="1100"/>
            </a:pPr>
            <a:r>
              <a:rPr sz="1600" b="1" dirty="0"/>
              <a:t>OOB scores (small-sample, indicative only):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OBIA  2016 OOB = 0.70   2024 OOB = 0.75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Pixel 2016 OOB = ~0.80  2024 OOB = 0.81</a:t>
            </a:r>
          </a:p>
          <a:p>
            <a:pPr>
              <a:lnSpc>
                <a:spcPct val="105000"/>
              </a:lnSpc>
              <a:defRPr sz="1100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412492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OBIA Classified Maps — 2016 &amp;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852160"/>
            <a:ext cx="11612880" cy="472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555555"/>
                </a:solidFill>
              </a:defRPr>
            </a:pPr>
            <a:r>
              <a:rPr sz="1200" dirty="0"/>
              <a:t>Note the visible expansion of red (Built-up) along the valley floor between Mussoorie (north) and</a:t>
            </a:r>
            <a:r>
              <a:rPr lang="en-US" sz="1200" dirty="0"/>
              <a:t> </a:t>
            </a:r>
            <a:r>
              <a:rPr sz="1200" dirty="0" err="1"/>
              <a:t>Doiwala</a:t>
            </a:r>
            <a:r>
              <a:rPr sz="1200" dirty="0"/>
              <a:t> (south-east). Yellow (Bare/Open) patches in 2016 frequently transition to red in 2024 — the</a:t>
            </a:r>
            <a:r>
              <a:rPr lang="en-US" sz="1200" dirty="0"/>
              <a:t> </a:t>
            </a:r>
            <a:r>
              <a:rPr sz="1200" dirty="0"/>
              <a:t>characteristic 'bare-land -&gt; construction -&gt; built-up' sequence on the urban fringe.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12 / 23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C302C2-4A98-C146-F810-CB24242D5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510" y="1690198"/>
            <a:ext cx="5405755" cy="27495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78A9A3-A737-3A9F-FA63-81958F0DC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60" y="1690198"/>
            <a:ext cx="6163175" cy="31352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74638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Pixel-Based Pipeline &amp; Post-Filtering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99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Per-pixel feature vector  </a:t>
            </a:r>
            <a:r>
              <a:rPr sz="1600" dirty="0"/>
              <a:t>(R^6):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[ B2, B3, B4, B8, NDVI, NDBI ]  at every 10 m pixel.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Prediction: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9961760 valid pixels per date scored in</a:t>
            </a:r>
            <a:r>
              <a:rPr lang="en-US" sz="1600" dirty="0"/>
              <a:t> </a:t>
            </a:r>
            <a:r>
              <a:rPr sz="1600" dirty="0"/>
              <a:t>~1M-pixel chunks to</a:t>
            </a:r>
            <a:r>
              <a:rPr lang="en-US" sz="1600" dirty="0"/>
              <a:t> </a:t>
            </a:r>
            <a:r>
              <a:rPr sz="1600" dirty="0"/>
              <a:t>bound RAM.</a:t>
            </a:r>
            <a:r>
              <a:rPr lang="en-US" sz="1600" dirty="0"/>
              <a:t> </a:t>
            </a:r>
            <a:r>
              <a:rPr sz="1600" dirty="0"/>
              <a:t>scikit-learn RF, </a:t>
            </a:r>
            <a:r>
              <a:rPr sz="1600" dirty="0" err="1"/>
              <a:t>n_jobs</a:t>
            </a:r>
            <a:r>
              <a:rPr sz="1600" dirty="0"/>
              <a:t> = -1 (all cores).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Post-filtering</a:t>
            </a:r>
            <a:r>
              <a:rPr sz="1600" dirty="0"/>
              <a:t> — 3x3 majority filter: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Standard salt-and-pepper suppression.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For each pixel, replace with the modal class among</a:t>
            </a:r>
            <a:r>
              <a:rPr lang="en-US" sz="1600" dirty="0"/>
              <a:t> </a:t>
            </a:r>
            <a:r>
              <a:rPr sz="1600" dirty="0"/>
              <a:t>its 3x3 </a:t>
            </a:r>
            <a:r>
              <a:rPr sz="1600" dirty="0" err="1"/>
              <a:t>neighbourhood</a:t>
            </a:r>
            <a:r>
              <a:rPr sz="1600" dirty="0"/>
              <a:t> (zero/no-data ignored).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Edge pixels keep their original class if all </a:t>
            </a:r>
            <a:r>
              <a:rPr sz="1600" dirty="0" err="1"/>
              <a:t>neighbours</a:t>
            </a:r>
            <a:r>
              <a:rPr lang="en-US" sz="1600" dirty="0"/>
              <a:t> </a:t>
            </a:r>
            <a:r>
              <a:rPr sz="1600" dirty="0"/>
              <a:t>are no-data.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Implementation is fully </a:t>
            </a:r>
            <a:r>
              <a:rPr sz="1600" dirty="0" err="1"/>
              <a:t>vectorised</a:t>
            </a:r>
            <a:r>
              <a:rPr sz="1600" dirty="0"/>
              <a:t> over the 9-stack</a:t>
            </a:r>
            <a:r>
              <a:rPr lang="en-US" sz="1600" dirty="0"/>
              <a:t> </a:t>
            </a:r>
            <a:r>
              <a:rPr sz="1600" dirty="0"/>
              <a:t>of shifted </a:t>
            </a:r>
            <a:r>
              <a:rPr sz="1600" dirty="0" err="1"/>
              <a:t>neighbour</a:t>
            </a:r>
            <a:r>
              <a:rPr sz="1600" dirty="0"/>
              <a:t> arrays (script 08).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Effect on area statistics: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Class areas changed by &lt; 1% before/after filtering;</a:t>
            </a:r>
            <a:r>
              <a:rPr lang="en-US" sz="1600" dirty="0"/>
              <a:t> </a:t>
            </a:r>
            <a:r>
              <a:rPr sz="1600" dirty="0"/>
              <a:t>filter primarily removes isolated single pixels.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188720"/>
            <a:ext cx="5486400" cy="499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/>
            </a:pPr>
            <a:r>
              <a:rPr sz="1600" b="1" dirty="0"/>
              <a:t>Feature importances </a:t>
            </a:r>
            <a:r>
              <a:rPr sz="1600" dirty="0"/>
              <a:t>(Gini, RF, 2024):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NDVI    0.318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B2      0.185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B3      0.142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B4      0.128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B8      0.121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    NDBI    0.105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Same ranking as the OBIA RF — NDVI is the dominant</a:t>
            </a:r>
            <a:r>
              <a:rPr lang="en-US" sz="1600" dirty="0"/>
              <a:t> </a:t>
            </a:r>
            <a:r>
              <a:rPr sz="1600" dirty="0"/>
              <a:t>discriminator. The leading role of B2 (blue) is notable:</a:t>
            </a:r>
            <a:r>
              <a:rPr lang="en-US" sz="1600" dirty="0"/>
              <a:t> </a:t>
            </a:r>
            <a:r>
              <a:rPr sz="1600" dirty="0"/>
              <a:t>blue is</a:t>
            </a:r>
            <a:r>
              <a:rPr lang="en-US" sz="1600" dirty="0"/>
              <a:t> </a:t>
            </a:r>
            <a:r>
              <a:rPr sz="1600" dirty="0"/>
              <a:t>sensitive to atmospheric haze and rooftop albedo,</a:t>
            </a:r>
            <a:r>
              <a:rPr lang="en-US" sz="1600" dirty="0"/>
              <a:t> </a:t>
            </a:r>
            <a:r>
              <a:rPr sz="1600" dirty="0"/>
              <a:t>and the difference between concrete (high B2) and</a:t>
            </a:r>
            <a:r>
              <a:rPr lang="en-US" sz="1600" dirty="0"/>
              <a:t> </a:t>
            </a:r>
            <a:r>
              <a:rPr sz="1600" dirty="0"/>
              <a:t>vegetation (low B2) is one of the strongest binary</a:t>
            </a:r>
            <a:r>
              <a:rPr lang="en-US" sz="1600" dirty="0"/>
              <a:t> </a:t>
            </a:r>
            <a:r>
              <a:rPr sz="1600" dirty="0"/>
              <a:t>separators in the dataset.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Note: NDBI ranks last despite being explicitly an urban</a:t>
            </a:r>
            <a:r>
              <a:rPr lang="en-US" sz="1600" dirty="0"/>
              <a:t> </a:t>
            </a:r>
            <a:r>
              <a:rPr sz="1600" dirty="0"/>
              <a:t>index. Likely because at 10 m, NDBI is computed from</a:t>
            </a:r>
            <a:r>
              <a:rPr lang="en-US" sz="1600" dirty="0"/>
              <a:t> </a:t>
            </a:r>
            <a:r>
              <a:rPr sz="1600" dirty="0"/>
              <a:t>the same NIR + (broken) SWIR information, with SWIR</a:t>
            </a:r>
            <a:r>
              <a:rPr lang="en-US" sz="1600" dirty="0"/>
              <a:t> </a:t>
            </a:r>
            <a:r>
              <a:rPr sz="1600" dirty="0"/>
              <a:t>degraded; the index inherits NDVI's signal but with less</a:t>
            </a:r>
            <a:r>
              <a:rPr lang="en-US" sz="1600" dirty="0"/>
              <a:t> </a:t>
            </a:r>
            <a:r>
              <a:rPr sz="1600" dirty="0"/>
              <a:t>discriminatory power.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5043" y="257340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Pixel-Based Classified Maps — 2016 &amp;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852160"/>
            <a:ext cx="11612880" cy="53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555555"/>
                </a:solidFill>
              </a:defRPr>
            </a:pPr>
            <a:r>
              <a:rPr sz="1400" dirty="0"/>
              <a:t>After 3x3 majority filtering. Pixel-based maps preserve the fine 10 m structure of roads and</a:t>
            </a:r>
            <a:r>
              <a:rPr lang="en-US" sz="1400" dirty="0"/>
              <a:t> </a:t>
            </a:r>
            <a:r>
              <a:rPr sz="1400" dirty="0"/>
              <a:t>individual built-up patches that SLIC segments dissolve into the surrounding land cover, particularly</a:t>
            </a:r>
            <a:r>
              <a:rPr lang="en-US" sz="1400" dirty="0"/>
              <a:t> </a:t>
            </a:r>
            <a:r>
              <a:rPr sz="1400" dirty="0"/>
              <a:t>along the urban fringes south and west of the old 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14 / 23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6DC676-F343-470F-3790-85DDE0C83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8" y="1489012"/>
            <a:ext cx="6196005" cy="3151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EE0EF7-03F5-0BF3-11E0-8C5D95E3D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396" y="1560386"/>
            <a:ext cx="6196006" cy="31519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74956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OBIA vs Pixel-Based — 2024 Side-by-Side</a:t>
            </a:r>
          </a:p>
        </p:txBody>
      </p:sp>
      <p:pic>
        <p:nvPicPr>
          <p:cNvPr id="3" name="Picture 2" descr="obia_vs_pixel_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795760" cy="44005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852160"/>
            <a:ext cx="11612880" cy="53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555555"/>
                </a:solidFill>
              </a:defRPr>
            </a:pPr>
            <a:r>
              <a:rPr sz="1400" dirty="0"/>
              <a:t>Pixel map (right) shows finer-grained classes; OBIA (left) shows polygon-like patches. Notice that</a:t>
            </a:r>
            <a:r>
              <a:rPr lang="en-US" sz="1400" dirty="0"/>
              <a:t> </a:t>
            </a:r>
            <a:r>
              <a:rPr sz="1400" dirty="0"/>
              <a:t>OBIA covers the central built-up cluster as one large red patch while pixel preserves internal</a:t>
            </a:r>
            <a:r>
              <a:rPr lang="en-US" sz="1400" dirty="0"/>
              <a:t> </a:t>
            </a:r>
            <a:r>
              <a:rPr sz="1400" dirty="0"/>
              <a:t>vegetation pockets (parks, riverine corridors).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74638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Validation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09040"/>
            <a:ext cx="5486400" cy="525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Sample design — stratified random: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Strata = OBIA classified classes (same strata used to</a:t>
            </a:r>
            <a:r>
              <a:rPr lang="en-US" sz="1600" dirty="0"/>
              <a:t> </a:t>
            </a:r>
            <a:r>
              <a:rPr sz="1600" dirty="0"/>
              <a:t>score BOTH methods so they are comparable).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15 points per stratum per date -&gt; 75 per date -&gt; 150 total.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Points exported as KML with </a:t>
            </a:r>
            <a:r>
              <a:rPr sz="1600" dirty="0" err="1"/>
              <a:t>class_obia</a:t>
            </a:r>
            <a:r>
              <a:rPr sz="1600" dirty="0"/>
              <a:t> and </a:t>
            </a:r>
            <a:r>
              <a:rPr sz="1600" dirty="0" err="1"/>
              <a:t>class_pixel</a:t>
            </a:r>
            <a:r>
              <a:rPr lang="en-US" sz="1600" dirty="0"/>
              <a:t> </a:t>
            </a:r>
            <a:r>
              <a:rPr sz="1600" dirty="0"/>
              <a:t>pre-attached, plus a UTM .</a:t>
            </a:r>
            <a:r>
              <a:rPr sz="1600" dirty="0" err="1"/>
              <a:t>gpkg</a:t>
            </a:r>
            <a:r>
              <a:rPr sz="1600" dirty="0"/>
              <a:t> for analysis.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Reference labelling: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Visual interpretation in Google Earth Pro using</a:t>
            </a:r>
            <a:r>
              <a:rPr lang="en-US" sz="1600" dirty="0"/>
              <a:t> </a:t>
            </a:r>
            <a:r>
              <a:rPr sz="1600" dirty="0"/>
              <a:t>historical imagery dated as close as possible to the</a:t>
            </a:r>
            <a:r>
              <a:rPr lang="en-US" sz="1600" dirty="0"/>
              <a:t> </a:t>
            </a:r>
            <a:r>
              <a:rPr sz="1600" dirty="0"/>
              <a:t>composite window (Nov-Feb of each year).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Truth column </a:t>
            </a:r>
            <a:r>
              <a:rPr sz="1600" dirty="0" err="1"/>
              <a:t>class_true</a:t>
            </a:r>
            <a:r>
              <a:rPr sz="1600" dirty="0"/>
              <a:t> filled manually in CSV; the</a:t>
            </a:r>
            <a:r>
              <a:rPr lang="en-US" sz="1600" dirty="0"/>
              <a:t> </a:t>
            </a:r>
            <a:r>
              <a:rPr sz="1600" dirty="0"/>
              <a:t>KML pin name showed </a:t>
            </a:r>
            <a:r>
              <a:rPr sz="1600" dirty="0" err="1"/>
              <a:t>class_obia</a:t>
            </a:r>
            <a:r>
              <a:rPr sz="1600" dirty="0"/>
              <a:t> AND </a:t>
            </a:r>
            <a:r>
              <a:rPr sz="1600" dirty="0" err="1"/>
              <a:t>class_pixel</a:t>
            </a:r>
            <a:r>
              <a:rPr sz="1600" dirty="0"/>
              <a:t> so</a:t>
            </a:r>
            <a:r>
              <a:rPr lang="en-US" sz="1600" dirty="0"/>
              <a:t> </a:t>
            </a:r>
            <a:r>
              <a:rPr sz="1600" dirty="0"/>
              <a:t>bias from one method could be cross-checked.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Why this design is defensible: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Random within strata -&gt; unbiased estimate per class.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• Stratification on OBIA ensures all classes get</a:t>
            </a:r>
            <a:r>
              <a:rPr lang="en-US" sz="1600" dirty="0"/>
              <a:t> </a:t>
            </a:r>
            <a:r>
              <a:rPr sz="1600" dirty="0"/>
              <a:t>representation (without stratification class 5 would</a:t>
            </a:r>
            <a:r>
              <a:rPr lang="en-US" sz="1600" dirty="0"/>
              <a:t> </a:t>
            </a:r>
            <a:r>
              <a:rPr sz="1600" dirty="0"/>
              <a:t>receive &lt; 1 point in a uniform 75-point sample).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188720"/>
            <a:ext cx="5486400" cy="499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defRPr sz="1200"/>
            </a:pPr>
            <a:r>
              <a:rPr lang="en-US" sz="1600" b="1" dirty="0"/>
              <a:t>Reference label distribution (true class):</a:t>
            </a:r>
          </a:p>
          <a:p>
            <a:pPr algn="just">
              <a:lnSpc>
                <a:spcPct val="105000"/>
              </a:lnSpc>
              <a:defRPr sz="1200"/>
            </a:pPr>
            <a:endParaRPr lang="en-US" sz="1600" dirty="0"/>
          </a:p>
          <a:p>
            <a:pPr algn="just">
              <a:lnSpc>
                <a:spcPct val="105000"/>
              </a:lnSpc>
              <a:defRPr sz="1200"/>
            </a:pPr>
            <a:r>
              <a:rPr lang="en-US" sz="1600" dirty="0"/>
              <a:t>  2016:  18 BU  16 DV  23 MV   8 BL  10 W</a:t>
            </a:r>
          </a:p>
          <a:p>
            <a:pPr algn="just">
              <a:lnSpc>
                <a:spcPct val="105000"/>
              </a:lnSpc>
              <a:defRPr sz="1200"/>
            </a:pPr>
            <a:r>
              <a:rPr lang="en-US" sz="1600" dirty="0"/>
              <a:t>  2024:  19 BU  16 DV  22 MV  10 BL   8 W</a:t>
            </a:r>
          </a:p>
          <a:p>
            <a:pPr algn="just">
              <a:lnSpc>
                <a:spcPct val="105000"/>
              </a:lnSpc>
              <a:defRPr sz="1200"/>
            </a:pPr>
            <a:endParaRPr lang="en-US" sz="1600" dirty="0"/>
          </a:p>
          <a:p>
            <a:pPr algn="just">
              <a:lnSpc>
                <a:spcPct val="105000"/>
              </a:lnSpc>
              <a:defRPr sz="1200"/>
            </a:pPr>
            <a:r>
              <a:rPr lang="en-US" sz="1600" dirty="0"/>
              <a:t>The true class differs from the OBIA stratum class for many points — that is exactly the signal the accuracy assessment is measuring.</a:t>
            </a:r>
          </a:p>
          <a:p>
            <a:pPr algn="just">
              <a:lnSpc>
                <a:spcPct val="105000"/>
              </a:lnSpc>
              <a:defRPr sz="1200"/>
            </a:pPr>
            <a:endParaRPr lang="en-US" sz="1600" dirty="0"/>
          </a:p>
          <a:p>
            <a:pPr algn="just">
              <a:lnSpc>
                <a:spcPct val="105000"/>
              </a:lnSpc>
              <a:defRPr sz="1200"/>
            </a:pPr>
            <a:r>
              <a:rPr lang="en-US" sz="1600" dirty="0"/>
              <a:t>Limitations of the validation design:</a:t>
            </a:r>
          </a:p>
          <a:p>
            <a:pPr algn="just">
              <a:lnSpc>
                <a:spcPct val="105000"/>
              </a:lnSpc>
              <a:defRPr sz="1200"/>
            </a:pPr>
            <a:r>
              <a:rPr lang="en-US" sz="1600" dirty="0"/>
              <a:t>• 75 points / date is small (per-class CI ~ +/-12 pp).</a:t>
            </a:r>
          </a:p>
          <a:p>
            <a:pPr algn="just">
              <a:lnSpc>
                <a:spcPct val="105000"/>
              </a:lnSpc>
              <a:defRPr sz="1200"/>
            </a:pPr>
            <a:r>
              <a:rPr lang="en-US" sz="1600" dirty="0"/>
              <a:t>• Interpreter (Mohammad) is one person – no inter-rater reliability check.</a:t>
            </a:r>
          </a:p>
          <a:p>
            <a:pPr algn="just">
              <a:lnSpc>
                <a:spcPct val="105000"/>
              </a:lnSpc>
              <a:defRPr sz="1200"/>
            </a:pPr>
            <a:r>
              <a:rPr lang="en-US" sz="1600" dirty="0"/>
              <a:t>• Historical GE imagery is not always exactly the same season as the S2 composite; some judgement calls on cropland phenology stage.</a:t>
            </a:r>
          </a:p>
          <a:p>
            <a:pPr algn="just">
              <a:lnSpc>
                <a:spcPct val="105000"/>
              </a:lnSpc>
              <a:defRPr sz="1200"/>
            </a:pPr>
            <a:endParaRPr lang="en-US" sz="1600" dirty="0"/>
          </a:p>
          <a:p>
            <a:pPr algn="just">
              <a:lnSpc>
                <a:spcPct val="105000"/>
              </a:lnSpc>
              <a:defRPr sz="1200"/>
            </a:pPr>
            <a:r>
              <a:rPr lang="en-US" sz="1600" dirty="0"/>
              <a:t>These limitations apply equally to both methods, so the comparison itself is fair.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93358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Accuracy Assessment — Headline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OA (%)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Kappa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n_val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Pixel-based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Pixel-based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749039"/>
            <a:ext cx="5486400" cy="2667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 b="1"/>
            </a:pPr>
            <a:r>
              <a:rPr sz="1600" dirty="0"/>
              <a:t>Headline finding: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Pixel-based RF outperformed OBIA by 9-13 percentage</a:t>
            </a:r>
            <a:r>
              <a:rPr lang="en-US" sz="1600" dirty="0"/>
              <a:t> </a:t>
            </a:r>
            <a:r>
              <a:rPr sz="1600" dirty="0"/>
              <a:t>points OA and 0.10-0.15 in Kappa, on BOTH dates.</a:t>
            </a:r>
          </a:p>
          <a:p>
            <a:pPr algn="just">
              <a:lnSpc>
                <a:spcPct val="105000"/>
              </a:lnSpc>
              <a:defRPr sz="1200"/>
            </a:pPr>
            <a:endParaRPr lang="en-US"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H2 (OBIA accuracy &gt;= pixel) is REJECTED at this segment</a:t>
            </a:r>
            <a:r>
              <a:rPr lang="en-US" sz="1600" dirty="0"/>
              <a:t> </a:t>
            </a:r>
            <a:r>
              <a:rPr sz="1600" dirty="0"/>
              <a:t>scale.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Both methods scored ~78-79% / kappa 0.72 for pixel and</a:t>
            </a:r>
            <a:r>
              <a:rPr lang="en-US" sz="1600" dirty="0"/>
              <a:t> </a:t>
            </a:r>
            <a:r>
              <a:rPr sz="1600" dirty="0"/>
              <a:t>~65-69% / 0.57-0.62 for OBIA. The pixel-based method</a:t>
            </a:r>
            <a:r>
              <a:rPr lang="en-US" sz="1600" dirty="0"/>
              <a:t> </a:t>
            </a:r>
            <a:r>
              <a:rPr sz="1600" dirty="0"/>
              <a:t>is consistent across dates; OBIA improved slightly from</a:t>
            </a:r>
            <a:r>
              <a:rPr lang="en-US" sz="1600" dirty="0"/>
              <a:t> </a:t>
            </a:r>
            <a:r>
              <a:rPr sz="1600" dirty="0"/>
              <a:t>2016 to 2024 (richer urban texture to learn from).</a:t>
            </a:r>
          </a:p>
        </p:txBody>
      </p:sp>
      <p:pic>
        <p:nvPicPr>
          <p:cNvPr id="5" name="Picture 4" descr="confusion_obia_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2834640" cy="2816322"/>
          </a:xfrm>
          <a:prstGeom prst="rect">
            <a:avLst/>
          </a:prstGeom>
        </p:spPr>
      </p:pic>
      <p:pic>
        <p:nvPicPr>
          <p:cNvPr id="6" name="Picture 5" descr="confusion_pixel_2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188720"/>
            <a:ext cx="2834640" cy="2816322"/>
          </a:xfrm>
          <a:prstGeom prst="rect">
            <a:avLst/>
          </a:prstGeom>
        </p:spPr>
      </p:pic>
      <p:pic>
        <p:nvPicPr>
          <p:cNvPr id="7" name="Picture 6" descr="confusion_obia_2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14800"/>
            <a:ext cx="2834640" cy="2816322"/>
          </a:xfrm>
          <a:prstGeom prst="rect">
            <a:avLst/>
          </a:prstGeom>
        </p:spPr>
      </p:pic>
      <p:pic>
        <p:nvPicPr>
          <p:cNvPr id="8" name="Picture 7" descr="confusion_pixel_2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114800"/>
            <a:ext cx="2834640" cy="28163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183198"/>
            <a:ext cx="8229600" cy="1143000"/>
          </a:xfrm>
        </p:spPr>
        <p:txBody>
          <a:bodyPr/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dirty="0"/>
              <a:t>Per-Class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427203"/>
              </p:ext>
            </p:extLst>
          </p:nvPr>
        </p:nvGraphicFramePr>
        <p:xfrm>
          <a:off x="457200" y="118872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OBIA  PA / UA / F1 (2024)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Pixel  PA / UA / F1 (2024)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Built-up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 47.4  /   60.0  /  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 94.7  /   62.1  /  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Dense Veg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 93.8  /  100.0  /  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100.0  /   94.1  /  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Mixed Veg/Crop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 59.1  /   86.7  /  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 81.8  /   94.7  /  0.88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Bare/Open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 70.0  /   46.7  /  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 40.0  /   57.1  /  0.47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100.0  /   53.3  /  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 37.5  /  100.0  /  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9144000" cy="1329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/>
            </a:pPr>
            <a:r>
              <a:rPr dirty="0"/>
              <a:t>Interpretation:</a:t>
            </a:r>
          </a:p>
          <a:p>
            <a:pPr>
              <a:lnSpc>
                <a:spcPct val="105000"/>
              </a:lnSpc>
              <a:defRPr sz="1100"/>
            </a:pPr>
            <a:r>
              <a:rPr dirty="0"/>
              <a:t>  • Water — both methods perfect or near-perfect when they DO predict water; the bottleneck is</a:t>
            </a:r>
            <a:r>
              <a:rPr lang="en-US" dirty="0"/>
              <a:t> </a:t>
            </a:r>
            <a:r>
              <a:rPr dirty="0"/>
              <a:t> producer accuracy (omission). Narrow river pixels get absorbed into riparian vegetation.</a:t>
            </a:r>
          </a:p>
          <a:p>
            <a:pPr>
              <a:lnSpc>
                <a:spcPct val="105000"/>
              </a:lnSpc>
              <a:defRPr sz="1100"/>
            </a:pPr>
            <a:r>
              <a:rPr dirty="0"/>
              <a:t>  • Mixed Veg/Crop — biggest omission class for OBIA. SLIC segments straddling field boundaries</a:t>
            </a:r>
            <a:r>
              <a:rPr lang="en-US" dirty="0"/>
              <a:t> </a:t>
            </a:r>
            <a:r>
              <a:rPr dirty="0"/>
              <a:t>get labeled by the dominant land cover, frequently 'Built-up' or 'Dense Veg', stripping cropland.</a:t>
            </a:r>
          </a:p>
          <a:p>
            <a:pPr>
              <a:lnSpc>
                <a:spcPct val="105000"/>
              </a:lnSpc>
              <a:defRPr sz="1100"/>
            </a:pPr>
            <a:r>
              <a:rPr dirty="0"/>
              <a:t>  • Built-up — pixel-based catches small isolated rooftops that OBIA averages away into the segment</a:t>
            </a:r>
            <a:r>
              <a:rPr lang="en-US" dirty="0"/>
              <a:t> </a:t>
            </a:r>
            <a:r>
              <a:rPr dirty="0"/>
              <a:t>they sit in. This is the largest single accuracy gap between the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21701"/>
            <a:ext cx="8229600" cy="1143000"/>
          </a:xfrm>
        </p:spPr>
        <p:txBody>
          <a:bodyPr/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dirty="0"/>
              <a:t>Change Detection — Area &amp; Class 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760720"/>
            <a:ext cx="11612880" cy="53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>
                <a:solidFill>
                  <a:srgbClr val="555555"/>
                </a:solidFill>
              </a:defRPr>
            </a:pPr>
            <a:r>
              <a:rPr sz="1400" dirty="0"/>
              <a:t>Annotated deltas in ha. Pixel-based (right) is the more conservative estimate of expansion;</a:t>
            </a:r>
            <a:r>
              <a:rPr lang="en-US" sz="1400" dirty="0"/>
              <a:t> </a:t>
            </a:r>
            <a:r>
              <a:rPr sz="1400" dirty="0"/>
              <a:t>OBIA (left) over-estimates the BU class likely because some mixed cropland-settlement segments</a:t>
            </a:r>
            <a:r>
              <a:rPr lang="en-US" sz="1400" dirty="0"/>
              <a:t> </a:t>
            </a:r>
            <a:r>
              <a:rPr sz="1400" dirty="0"/>
              <a:t>tip into the BU category. Both methods agree on direction for every 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19 / 23</a:t>
            </a:r>
          </a:p>
        </p:txBody>
      </p:sp>
      <p:pic>
        <p:nvPicPr>
          <p:cNvPr id="7" name="Picture 6" descr="area_chart.png">
            <a:extLst>
              <a:ext uri="{FF2B5EF4-FFF2-40B4-BE49-F238E27FC236}">
                <a16:creationId xmlns:a16="http://schemas.microsoft.com/office/drawing/2014/main" id="{422E3325-475B-28D7-6EF2-A8BA108CB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887200" cy="45613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Urban Expansion 2016 -&gt;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629" y="916414"/>
            <a:ext cx="3840480" cy="460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/>
            </a:pPr>
            <a:r>
              <a:rPr sz="1400" dirty="0"/>
              <a:t>Pixel-based estimate:</a:t>
            </a:r>
          </a:p>
          <a:p>
            <a:pPr>
              <a:lnSpc>
                <a:spcPct val="105000"/>
              </a:lnSpc>
              <a:defRPr sz="1200"/>
            </a:pPr>
            <a:r>
              <a:rPr sz="1400" dirty="0"/>
              <a:t>  Persistent built-up   ~ 7 750 ha</a:t>
            </a:r>
          </a:p>
          <a:p>
            <a:pPr>
              <a:lnSpc>
                <a:spcPct val="105000"/>
              </a:lnSpc>
              <a:defRPr sz="1200"/>
            </a:pPr>
            <a:r>
              <a:rPr sz="1400" dirty="0"/>
              <a:t>  New built-up          ~ 8 020 ha</a:t>
            </a:r>
          </a:p>
          <a:p>
            <a:pPr>
              <a:lnSpc>
                <a:spcPct val="105000"/>
              </a:lnSpc>
              <a:defRPr sz="1200"/>
            </a:pPr>
            <a:r>
              <a:rPr sz="1400" dirty="0"/>
              <a:t>  Net BU expansion      + 104%  (doubled)</a:t>
            </a:r>
          </a:p>
          <a:p>
            <a:pPr>
              <a:lnSpc>
                <a:spcPct val="105000"/>
              </a:lnSpc>
              <a:defRPr sz="1200"/>
            </a:pPr>
            <a:endParaRPr sz="1400" dirty="0"/>
          </a:p>
          <a:p>
            <a:pPr>
              <a:lnSpc>
                <a:spcPct val="105000"/>
              </a:lnSpc>
              <a:defRPr sz="1200"/>
            </a:pPr>
            <a:r>
              <a:rPr sz="1400" dirty="0"/>
              <a:t>OBIA estimate (for comparison):</a:t>
            </a:r>
          </a:p>
          <a:p>
            <a:pPr>
              <a:lnSpc>
                <a:spcPct val="105000"/>
              </a:lnSpc>
              <a:defRPr sz="1200"/>
            </a:pPr>
            <a:r>
              <a:rPr sz="1400" dirty="0"/>
              <a:t>  Persistent built-up   ~ 3 600 ha</a:t>
            </a:r>
          </a:p>
          <a:p>
            <a:pPr>
              <a:lnSpc>
                <a:spcPct val="105000"/>
              </a:lnSpc>
              <a:defRPr sz="1200"/>
            </a:pPr>
            <a:r>
              <a:rPr sz="1400" dirty="0"/>
              <a:t>  New built-up          ~ 15 060 ha</a:t>
            </a:r>
          </a:p>
          <a:p>
            <a:pPr>
              <a:lnSpc>
                <a:spcPct val="105000"/>
              </a:lnSpc>
              <a:defRPr sz="1200"/>
            </a:pPr>
            <a:r>
              <a:rPr sz="1400" dirty="0"/>
              <a:t>  Net BU expansion      + 384%</a:t>
            </a:r>
          </a:p>
          <a:p>
            <a:pPr>
              <a:lnSpc>
                <a:spcPct val="105000"/>
              </a:lnSpc>
              <a:defRPr sz="1200"/>
            </a:pPr>
            <a:endParaRPr sz="1400" dirty="0"/>
          </a:p>
          <a:p>
            <a:pPr>
              <a:lnSpc>
                <a:spcPct val="105000"/>
              </a:lnSpc>
              <a:defRPr sz="1200"/>
            </a:pPr>
            <a:r>
              <a:rPr sz="1400" dirty="0"/>
              <a:t>Which to trust?</a:t>
            </a:r>
          </a:p>
          <a:p>
            <a:pPr>
              <a:lnSpc>
                <a:spcPct val="105000"/>
              </a:lnSpc>
              <a:defRPr sz="1200"/>
            </a:pPr>
            <a:r>
              <a:rPr sz="1400" dirty="0"/>
              <a:t>  Pixel-based is the higher-accuracy classifier (slide 17),</a:t>
            </a:r>
            <a:r>
              <a:rPr lang="en-US" sz="1400" dirty="0"/>
              <a:t> </a:t>
            </a:r>
            <a:r>
              <a:rPr sz="1400" dirty="0"/>
              <a:t>so the pixel-based change number is the headline:</a:t>
            </a:r>
          </a:p>
          <a:p>
            <a:pPr>
              <a:lnSpc>
                <a:spcPct val="105000"/>
              </a:lnSpc>
              <a:defRPr sz="1200"/>
            </a:pPr>
            <a:r>
              <a:rPr sz="1400" dirty="0"/>
              <a:t> + ~80 km^2 of new built-up area in 8 years.</a:t>
            </a:r>
          </a:p>
          <a:p>
            <a:pPr>
              <a:lnSpc>
                <a:spcPct val="105000"/>
              </a:lnSpc>
              <a:defRPr sz="1200"/>
            </a:pPr>
            <a:r>
              <a:rPr sz="1400" dirty="0"/>
              <a:t>That is consistent with Dehradun's reported population</a:t>
            </a:r>
            <a:r>
              <a:rPr lang="en-US" sz="1400" dirty="0"/>
              <a:t> </a:t>
            </a:r>
            <a:r>
              <a:rPr sz="1400" dirty="0"/>
              <a:t>growth and IT-corridor expansion (</a:t>
            </a:r>
            <a:r>
              <a:rPr sz="1400" dirty="0" err="1"/>
              <a:t>Selaqui-Sahastradhara</a:t>
            </a:r>
            <a:r>
              <a:rPr sz="1400" dirty="0"/>
              <a:t>).</a:t>
            </a:r>
          </a:p>
          <a:p>
            <a:pPr>
              <a:lnSpc>
                <a:spcPct val="105000"/>
              </a:lnSpc>
              <a:defRPr sz="1200"/>
            </a:pPr>
            <a:r>
              <a:rPr sz="1400" dirty="0"/>
              <a:t>OBIA's higher number reflects its tendency to label mixed</a:t>
            </a:r>
            <a:r>
              <a:rPr lang="en-US" sz="1400" dirty="0"/>
              <a:t> </a:t>
            </a:r>
            <a:r>
              <a:rPr sz="1400" dirty="0"/>
              <a:t>fringe segments as Built-up.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20 / 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1269F-FC7A-8B80-DEA4-2FD95FBDC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57" y="1053905"/>
            <a:ext cx="8148872" cy="40194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Discussion — Why Pixel-Based Won at this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059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5000"/>
              </a:lnSpc>
              <a:defRPr sz="1200"/>
            </a:pPr>
            <a:r>
              <a:rPr sz="1400" b="1" dirty="0"/>
              <a:t>1.  </a:t>
            </a:r>
            <a:r>
              <a:rPr sz="1400" dirty="0"/>
              <a:t>Segment size dominates the result.</a:t>
            </a:r>
          </a:p>
          <a:p>
            <a:pPr lvl="1">
              <a:lnSpc>
                <a:spcPct val="105000"/>
              </a:lnSpc>
              <a:defRPr sz="1200"/>
            </a:pPr>
            <a:r>
              <a:rPr sz="1400" dirty="0"/>
              <a:t>    Our median segment is 12.4 ha. The characteristic length scale of land-cover change in</a:t>
            </a:r>
          </a:p>
          <a:p>
            <a:pPr lvl="1">
              <a:lnSpc>
                <a:spcPct val="105000"/>
              </a:lnSpc>
              <a:defRPr sz="1200"/>
            </a:pPr>
            <a:r>
              <a:rPr sz="1400" dirty="0"/>
              <a:t>    peri-urban Dehradun is ~ 0.1 -- 1 ha (single rooftops, narrow roads, small fields). When</a:t>
            </a:r>
          </a:p>
          <a:p>
            <a:pPr lvl="1">
              <a:lnSpc>
                <a:spcPct val="105000"/>
              </a:lnSpc>
              <a:defRPr sz="1200"/>
            </a:pPr>
            <a:r>
              <a:rPr sz="1400" dirty="0"/>
              <a:t>    a 12-ha SLIC segment straddles a boundary between built-up and cropland, the within-</a:t>
            </a:r>
          </a:p>
          <a:p>
            <a:pPr lvl="1">
              <a:lnSpc>
                <a:spcPct val="105000"/>
              </a:lnSpc>
              <a:defRPr sz="1200"/>
            </a:pPr>
            <a:r>
              <a:rPr sz="1400" dirty="0"/>
              <a:t>    segment average pulls toward whichever cover dominates, and the minority class is lost.</a:t>
            </a:r>
          </a:p>
          <a:p>
            <a:pPr lvl="1">
              <a:lnSpc>
                <a:spcPct val="105000"/>
              </a:lnSpc>
              <a:defRPr sz="1200"/>
            </a:pPr>
            <a:endParaRPr sz="1400" dirty="0"/>
          </a:p>
          <a:p>
            <a:pPr lvl="8">
              <a:lnSpc>
                <a:spcPct val="105000"/>
              </a:lnSpc>
              <a:defRPr sz="1200"/>
            </a:pPr>
            <a:r>
              <a:rPr sz="1400" b="1" dirty="0"/>
              <a:t>2.  </a:t>
            </a:r>
            <a:r>
              <a:rPr sz="1400" dirty="0"/>
              <a:t>Pixel-RF is tolerant of small training samples.</a:t>
            </a:r>
          </a:p>
          <a:p>
            <a:pPr lvl="8">
              <a:lnSpc>
                <a:spcPct val="105000"/>
              </a:lnSpc>
              <a:defRPr sz="1200"/>
            </a:pPr>
            <a:r>
              <a:rPr sz="1400" dirty="0"/>
              <a:t>    The 9x training-pixel multiplier (3x3 window) gives the pixel RF 360 training samples vs</a:t>
            </a:r>
          </a:p>
          <a:p>
            <a:pPr lvl="8">
              <a:lnSpc>
                <a:spcPct val="105000"/>
              </a:lnSpc>
              <a:defRPr sz="1200"/>
            </a:pPr>
            <a:r>
              <a:rPr sz="1400" dirty="0"/>
              <a:t>    only 40 for OBIA. This effectively closes the bias gap from limited fieldwork.</a:t>
            </a:r>
          </a:p>
          <a:p>
            <a:pPr lvl="8">
              <a:lnSpc>
                <a:spcPct val="105000"/>
              </a:lnSpc>
              <a:defRPr sz="1200"/>
            </a:pPr>
            <a:endParaRPr sz="1400" dirty="0"/>
          </a:p>
          <a:p>
            <a:pPr lvl="1">
              <a:lnSpc>
                <a:spcPct val="105000"/>
              </a:lnSpc>
              <a:defRPr sz="1200"/>
            </a:pPr>
            <a:r>
              <a:rPr sz="1400" b="1" dirty="0"/>
              <a:t>3.  </a:t>
            </a:r>
            <a:r>
              <a:rPr sz="1400" dirty="0"/>
              <a:t>Spectral confusion classes resolve differently.</a:t>
            </a:r>
          </a:p>
          <a:p>
            <a:pPr lvl="1">
              <a:lnSpc>
                <a:spcPct val="105000"/>
              </a:lnSpc>
              <a:defRPr sz="1200"/>
            </a:pPr>
            <a:r>
              <a:rPr sz="1400" dirty="0"/>
              <a:t>    Bare-soil construction sites have spectral signatures close to built-up rooftops. At the</a:t>
            </a:r>
          </a:p>
          <a:p>
            <a:pPr lvl="1">
              <a:lnSpc>
                <a:spcPct val="105000"/>
              </a:lnSpc>
              <a:defRPr sz="1200"/>
            </a:pPr>
            <a:r>
              <a:rPr sz="1400" dirty="0"/>
              <a:t>    pixel level the RF learns this nuance from 360 samples; at the segment level, with only 7-8</a:t>
            </a:r>
          </a:p>
          <a:p>
            <a:pPr lvl="1">
              <a:lnSpc>
                <a:spcPct val="105000"/>
              </a:lnSpc>
              <a:defRPr sz="1200"/>
            </a:pPr>
            <a:r>
              <a:rPr sz="1400" dirty="0"/>
              <a:t>    samples per class, the boundary is fuzzier.</a:t>
            </a:r>
          </a:p>
          <a:p>
            <a:pPr>
              <a:lnSpc>
                <a:spcPct val="105000"/>
              </a:lnSpc>
              <a:defRPr sz="1200"/>
            </a:pPr>
            <a:endParaRPr sz="1400" dirty="0"/>
          </a:p>
          <a:p>
            <a:pPr lvl="8">
              <a:lnSpc>
                <a:spcPct val="105000"/>
              </a:lnSpc>
              <a:defRPr sz="1200"/>
            </a:pPr>
            <a:r>
              <a:rPr sz="1400" b="1" dirty="0"/>
              <a:t>4.  </a:t>
            </a:r>
            <a:r>
              <a:rPr sz="1400" dirty="0"/>
              <a:t>3x3 majority filter is enough.</a:t>
            </a:r>
          </a:p>
          <a:p>
            <a:pPr lvl="8">
              <a:lnSpc>
                <a:spcPct val="105000"/>
              </a:lnSpc>
              <a:defRPr sz="1200"/>
            </a:pPr>
            <a:r>
              <a:rPr sz="1400" dirty="0"/>
              <a:t>    The principal critique of pixel-based classification -- salt-and-pepper -- is largely cured</a:t>
            </a:r>
          </a:p>
          <a:p>
            <a:pPr lvl="8">
              <a:lnSpc>
                <a:spcPct val="105000"/>
              </a:lnSpc>
              <a:defRPr sz="1200"/>
            </a:pPr>
            <a:r>
              <a:rPr sz="1400" dirty="0"/>
              <a:t>    by a single 3x3 mode filter, without sacrificing boundary fidelity.</a:t>
            </a:r>
          </a:p>
          <a:p>
            <a:pPr lvl="8">
              <a:lnSpc>
                <a:spcPct val="105000"/>
              </a:lnSpc>
              <a:defRPr sz="1200"/>
            </a:pPr>
            <a:endParaRPr sz="1400" dirty="0"/>
          </a:p>
          <a:p>
            <a:pPr lvl="1">
              <a:lnSpc>
                <a:spcPct val="105000"/>
              </a:lnSpc>
              <a:defRPr sz="1200"/>
            </a:pPr>
            <a:r>
              <a:rPr sz="1400" b="1" dirty="0"/>
              <a:t>5.  </a:t>
            </a:r>
            <a:r>
              <a:rPr sz="1400" dirty="0"/>
              <a:t>This does NOT mean OBIA is bad. It means OBIA at this segment scale is not appropriate.</a:t>
            </a:r>
          </a:p>
          <a:p>
            <a:pPr lvl="1">
              <a:lnSpc>
                <a:spcPct val="105000"/>
              </a:lnSpc>
              <a:defRPr sz="1200"/>
            </a:pPr>
            <a:r>
              <a:rPr sz="1400" dirty="0"/>
              <a:t>    Two natural fixes: (a) shrink segments (</a:t>
            </a:r>
            <a:r>
              <a:rPr sz="1400" dirty="0" err="1"/>
              <a:t>n_segments</a:t>
            </a:r>
            <a:r>
              <a:rPr sz="1400" dirty="0"/>
              <a:t> = 30 000+), (b) multi-scale OBIA</a:t>
            </a:r>
          </a:p>
          <a:p>
            <a:pPr lvl="1">
              <a:lnSpc>
                <a:spcPct val="105000"/>
              </a:lnSpc>
              <a:defRPr sz="1200"/>
            </a:pPr>
            <a:r>
              <a:rPr sz="1400" dirty="0"/>
              <a:t>    (e.g. Berkeley's multiresolution segmentation at multiple scales, or hierarchical SLIC).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960" y="274638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25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Data quality: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Red-edge (B5, B6, B7, B8A) and SWIR (B11, B12) bands inside the AOI were effectively</a:t>
            </a:r>
            <a:r>
              <a:rPr lang="en-US" sz="1600" dirty="0"/>
              <a:t> </a:t>
            </a:r>
            <a:r>
              <a:rPr sz="1600" dirty="0"/>
              <a:t>constant in both composites -- almost certainly a GEE export-side compositing artefact.</a:t>
            </a:r>
            <a:r>
              <a:rPr lang="en-US" sz="1600" dirty="0"/>
              <a:t> </a:t>
            </a:r>
            <a:r>
              <a:rPr sz="1600" dirty="0"/>
              <a:t>Final feature set restricted to B2, B3, B4, B8, NDVI, NDBI. Re-running with a cleaner</a:t>
            </a:r>
            <a:r>
              <a:rPr lang="en-US" sz="1600" dirty="0"/>
              <a:t> </a:t>
            </a:r>
            <a:r>
              <a:rPr sz="1600" dirty="0"/>
              <a:t>composite (raw L2A SR product) would test whether adding SWIR closes the OBIA accuracy</a:t>
            </a:r>
            <a:r>
              <a:rPr lang="en-US" sz="1600" dirty="0"/>
              <a:t> </a:t>
            </a:r>
            <a:r>
              <a:rPr sz="1600" dirty="0"/>
              <a:t>gap, since NDBI would gain real signal.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Methodological:</a:t>
            </a:r>
          </a:p>
          <a:p>
            <a:pPr marL="171450" indent="-171450" algn="just">
              <a:lnSpc>
                <a:spcPct val="105000"/>
              </a:lnSpc>
              <a:buFont typeface="Arial" panose="020B0604020202020204" pitchFamily="34" charset="0"/>
              <a:buChar char="•"/>
              <a:defRPr sz="1200"/>
            </a:pPr>
            <a:r>
              <a:rPr sz="1600" dirty="0"/>
              <a:t>Only one segmentation scale tested. Sensitivity analysis (</a:t>
            </a:r>
            <a:r>
              <a:rPr sz="1600" dirty="0" err="1"/>
              <a:t>n_segments</a:t>
            </a:r>
            <a:r>
              <a:rPr sz="1600" dirty="0"/>
              <a:t> in {2000, 8000, 30000})</a:t>
            </a:r>
            <a:r>
              <a:rPr lang="en-US" sz="1600" dirty="0"/>
              <a:t> </a:t>
            </a:r>
            <a:r>
              <a:rPr sz="1600" dirty="0"/>
              <a:t>would reveal whether the OBIA accuracy gap is fundamental or just a scale choice.</a:t>
            </a:r>
            <a:endParaRPr lang="en-US" sz="1600" dirty="0"/>
          </a:p>
          <a:p>
            <a:pPr marL="171450" indent="-171450" algn="just">
              <a:lnSpc>
                <a:spcPct val="105000"/>
              </a:lnSpc>
              <a:buFont typeface="Arial" panose="020B0604020202020204" pitchFamily="34" charset="0"/>
              <a:buChar char="•"/>
              <a:defRPr sz="1200"/>
            </a:pPr>
            <a:r>
              <a:rPr sz="1600" dirty="0"/>
              <a:t>Training sample n = 40 per date for OBIA is small. RF </a:t>
            </a:r>
            <a:r>
              <a:rPr sz="1600" dirty="0" err="1"/>
              <a:t>generalisation</a:t>
            </a:r>
            <a:r>
              <a:rPr sz="1600" dirty="0"/>
              <a:t> may have saturated.</a:t>
            </a:r>
          </a:p>
          <a:p>
            <a:pPr marL="171450" indent="-171450" algn="just">
              <a:lnSpc>
                <a:spcPct val="105000"/>
              </a:lnSpc>
              <a:buFont typeface="Arial" panose="020B0604020202020204" pitchFamily="34" charset="0"/>
              <a:buChar char="•"/>
              <a:defRPr sz="1200"/>
            </a:pPr>
            <a:r>
              <a:rPr sz="1600" dirty="0"/>
              <a:t>No texture features used (GLCM, Gabor). Adding them might help OBIA more than pixel,</a:t>
            </a:r>
            <a:r>
              <a:rPr lang="en-US" sz="1600" dirty="0"/>
              <a:t> </a:t>
            </a:r>
            <a:r>
              <a:rPr sz="1600" dirty="0"/>
              <a:t>since OBIA can pool texture statistics over the whole segment.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Validation:</a:t>
            </a:r>
          </a:p>
          <a:p>
            <a:pPr marL="171450" indent="-171450" algn="just">
              <a:lnSpc>
                <a:spcPct val="105000"/>
              </a:lnSpc>
              <a:buFont typeface="Arial" panose="020B0604020202020204" pitchFamily="34" charset="0"/>
              <a:buChar char="•"/>
              <a:defRPr sz="1200"/>
            </a:pPr>
            <a:r>
              <a:rPr sz="1600" dirty="0"/>
              <a:t>75 reference points per date; per-class confidence intervals roughly +/- 12 pp at p=0.05.</a:t>
            </a:r>
            <a:endParaRPr lang="en-US" sz="1600" dirty="0"/>
          </a:p>
          <a:p>
            <a:pPr marL="171450" indent="-171450" algn="just">
              <a:lnSpc>
                <a:spcPct val="105000"/>
              </a:lnSpc>
              <a:buFont typeface="Arial" panose="020B0604020202020204" pitchFamily="34" charset="0"/>
              <a:buChar char="•"/>
              <a:defRPr sz="1200"/>
            </a:pPr>
            <a:r>
              <a:rPr sz="1600" dirty="0"/>
              <a:t>Single interpreter -- no inter-rater reliability quantified.</a:t>
            </a:r>
            <a:endParaRPr lang="en-US" sz="1600" dirty="0"/>
          </a:p>
          <a:p>
            <a:pPr marL="171450" indent="-171450" algn="just">
              <a:lnSpc>
                <a:spcPct val="105000"/>
              </a:lnSpc>
              <a:buFont typeface="Arial" panose="020B0604020202020204" pitchFamily="34" charset="0"/>
              <a:buChar char="•"/>
              <a:defRPr sz="1200"/>
            </a:pPr>
            <a:r>
              <a:rPr sz="1600" dirty="0"/>
              <a:t>Historical imagery in GE Pro is not always the same season as the S2 composite.</a:t>
            </a:r>
          </a:p>
          <a:p>
            <a:pPr algn="just">
              <a:lnSpc>
                <a:spcPct val="105000"/>
              </a:lnSpc>
              <a:defRPr sz="1200"/>
            </a:pPr>
            <a:endParaRPr sz="1600" dirty="0"/>
          </a:p>
          <a:p>
            <a:pPr algn="just">
              <a:lnSpc>
                <a:spcPct val="105000"/>
              </a:lnSpc>
              <a:defRPr sz="1200"/>
            </a:pPr>
            <a:r>
              <a:rPr sz="1600" b="1" dirty="0"/>
              <a:t>Temporal:</a:t>
            </a:r>
          </a:p>
          <a:p>
            <a:pPr algn="just">
              <a:lnSpc>
                <a:spcPct val="105000"/>
              </a:lnSpc>
              <a:defRPr sz="1200"/>
            </a:pPr>
            <a:r>
              <a:rPr sz="1600" dirty="0"/>
              <a:t>Two snapshots; no information about transition trajectories (e.g. when did each new</a:t>
            </a:r>
            <a:r>
              <a:rPr lang="en-US" sz="1600" dirty="0"/>
              <a:t> </a:t>
            </a:r>
            <a:r>
              <a:rPr sz="1600" dirty="0"/>
              <a:t>built-up pixel transition?). A dense time series would address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760" y="335916"/>
            <a:ext cx="8229600" cy="114300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rPr sz="2800" dirty="0"/>
              <a:t>Conclusions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0852" y="1087120"/>
            <a:ext cx="11247120" cy="3882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/>
            </a:pPr>
            <a:r>
              <a:rPr sz="1600" dirty="0"/>
              <a:t>Conclusions:</a:t>
            </a:r>
          </a:p>
          <a:p>
            <a:pPr marL="342900" indent="-342900">
              <a:lnSpc>
                <a:spcPct val="105000"/>
              </a:lnSpc>
              <a:buFont typeface="+mj-lt"/>
              <a:buAutoNum type="arabicPeriod"/>
              <a:defRPr sz="1100"/>
            </a:pPr>
            <a:r>
              <a:rPr sz="1600" dirty="0"/>
              <a:t>For 10 m Sentinel-2 in a mixed peri-urban setting, a per-pixel Random Forest with </a:t>
            </a:r>
            <a:r>
              <a:rPr sz="1600" dirty="0" err="1"/>
              <a:t>asimple</a:t>
            </a:r>
            <a:r>
              <a:rPr sz="1600" dirty="0"/>
              <a:t> 3x3 majority filter outperforms a single-scale SLIC-OBIA Random Forest using identical training data, features and hyperparameters.  (OA 78.7% vs 65.3-69.3%).</a:t>
            </a:r>
          </a:p>
          <a:p>
            <a:pPr marL="342900" indent="-342900">
              <a:lnSpc>
                <a:spcPct val="105000"/>
              </a:lnSpc>
              <a:buFont typeface="+mj-lt"/>
              <a:buAutoNum type="arabicPeriod"/>
              <a:defRPr sz="1100"/>
            </a:pPr>
            <a:r>
              <a:rPr sz="1600" dirty="0"/>
              <a:t>Both methods agree that Dehradun gained substantial built-up area 2016 -&gt; 2024.</a:t>
            </a:r>
            <a:r>
              <a:rPr lang="en-US" sz="1600" dirty="0"/>
              <a:t> </a:t>
            </a:r>
            <a:r>
              <a:rPr sz="1600" dirty="0"/>
              <a:t>The defensible (pixel-based) figure is ~ 80 km^2 of NEW built-up area over 8 years,</a:t>
            </a:r>
            <a:r>
              <a:rPr lang="en-US" sz="1600" dirty="0"/>
              <a:t> </a:t>
            </a:r>
            <a:r>
              <a:rPr sz="1600" dirty="0"/>
              <a:t>mostly converted from mixed cropland and bare fallow on the valley floor.</a:t>
            </a:r>
          </a:p>
          <a:p>
            <a:pPr marL="342900" indent="-342900">
              <a:lnSpc>
                <a:spcPct val="105000"/>
              </a:lnSpc>
              <a:buFont typeface="+mj-lt"/>
              <a:buAutoNum type="arabicPeriod"/>
              <a:defRPr sz="1100"/>
            </a:pPr>
            <a:r>
              <a:rPr sz="1600" dirty="0"/>
              <a:t>Dense vegetation lost ~ 130-160 km^2 over the same period -- the largest single</a:t>
            </a:r>
            <a:r>
              <a:rPr lang="en-US" sz="1600" dirty="0"/>
              <a:t> </a:t>
            </a:r>
            <a:r>
              <a:rPr sz="1600" dirty="0"/>
              <a:t>land-cover signal in the dataset.</a:t>
            </a:r>
          </a:p>
          <a:p>
            <a:pPr>
              <a:lnSpc>
                <a:spcPct val="105000"/>
              </a:lnSpc>
              <a:defRPr sz="1100"/>
            </a:pPr>
            <a:endParaRPr sz="1600" dirty="0"/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Future work: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• Multi-scale OBIA -- test </a:t>
            </a:r>
            <a:r>
              <a:rPr sz="1600" dirty="0" err="1"/>
              <a:t>n_segments</a:t>
            </a:r>
            <a:r>
              <a:rPr sz="1600" dirty="0"/>
              <a:t> in {2k, 8k, 30k, 80k} to find the scale where OBIA matches pixel-based, or train an ensemble across scales.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• Re-export Sentinel-2 composite preserving red-edge and SWIR bands; re-classify </a:t>
            </a:r>
            <a:r>
              <a:rPr sz="1600" dirty="0" err="1"/>
              <a:t>withfull</a:t>
            </a:r>
            <a:r>
              <a:rPr sz="1600" dirty="0"/>
              <a:t> 12-feature stack.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• Add texture features (GLCM mean/variance) at segment level.</a:t>
            </a:r>
          </a:p>
          <a:p>
            <a:pPr>
              <a:lnSpc>
                <a:spcPct val="105000"/>
              </a:lnSpc>
              <a:defRPr sz="1100"/>
            </a:pPr>
            <a:r>
              <a:rPr lang="en-US" sz="1600" dirty="0"/>
              <a:t>  </a:t>
            </a:r>
            <a:r>
              <a:rPr sz="1600" dirty="0"/>
              <a:t>• Extend time series to annual scale 2016-2024 (9 dates) to capture transition dynamics.</a:t>
            </a:r>
          </a:p>
          <a:p>
            <a:pPr>
              <a:lnSpc>
                <a:spcPct val="105000"/>
              </a:lnSpc>
              <a:defRPr sz="1100"/>
            </a:pPr>
            <a:r>
              <a:rPr sz="1600" dirty="0"/>
              <a:t>  • Compare against deep-learning baselines (U-Net, DeepLabv3+) at 10 m.</a:t>
            </a:r>
          </a:p>
          <a:p>
            <a:pPr>
              <a:lnSpc>
                <a:spcPct val="105000"/>
              </a:lnSpc>
              <a:defRPr sz="1100"/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900">
                <a:solidFill>
                  <a:srgbClr val="555555"/>
                </a:solidFill>
              </a:defRPr>
            </a:pPr>
            <a: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4358</Words>
  <Application>Microsoft Office PowerPoint</Application>
  <PresentationFormat>Custom</PresentationFormat>
  <Paragraphs>460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Object-Based vs Pixel-Based Classification for Dehradun Urban Expansion 2016-2024</vt:lpstr>
      <vt:lpstr>Research Question &amp; Hypotheses</vt:lpstr>
      <vt:lpstr>Why Compare OBIA vs Pixel-Based?</vt:lpstr>
      <vt:lpstr>Study Area — Dehradun Valley, Uttarakhand</vt:lpstr>
      <vt:lpstr>Data — Sentinel-2 Surface Reflectance Composites</vt:lpstr>
      <vt:lpstr>Land-Cover Class Scheme (5 classes)</vt:lpstr>
      <vt:lpstr>Workflow Overview</vt:lpstr>
      <vt:lpstr>SLIC Superpixel Segmentation — Theory</vt:lpstr>
      <vt:lpstr>SLIC Segmentation Result</vt:lpstr>
      <vt:lpstr>Per-Segment Feature Extraction</vt:lpstr>
      <vt:lpstr>Training Data &amp; Random Forest Configuration</vt:lpstr>
      <vt:lpstr>OBIA Classified Maps — 2016 &amp; 2024</vt:lpstr>
      <vt:lpstr>Pixel-Based Pipeline &amp; Post-Filtering</vt:lpstr>
      <vt:lpstr>Pixel-Based Classified Maps — 2016 &amp; 2024</vt:lpstr>
      <vt:lpstr>OBIA vs Pixel-Based — 2024 Side-by-Side</vt:lpstr>
      <vt:lpstr>Validation Design</vt:lpstr>
      <vt:lpstr>Accuracy Assessment — Headline Results</vt:lpstr>
      <vt:lpstr>Per-Class Performance</vt:lpstr>
      <vt:lpstr>Change Detection — Area &amp; Class Transitions</vt:lpstr>
      <vt:lpstr>Urban Expansion 2016 -&gt; 2024</vt:lpstr>
      <vt:lpstr>Discussion — Why Pixel-Based Won at this Scale</vt:lpstr>
      <vt:lpstr>Limitations</vt:lpstr>
      <vt:lpstr>Conclusions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Salman</cp:lastModifiedBy>
  <cp:revision>3</cp:revision>
  <dcterms:created xsi:type="dcterms:W3CDTF">2013-01-27T09:14:16Z</dcterms:created>
  <dcterms:modified xsi:type="dcterms:W3CDTF">2026-06-12T05:55:43Z</dcterms:modified>
  <cp:category/>
</cp:coreProperties>
</file>